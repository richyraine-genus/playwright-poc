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Today we're presenting a modern, scalable testing framework built on Playwright—designed to reduce time-to-value, increase confidence in deployments, and accelerate your testing velocity across the entire D365 F&amp;O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Outline what we'll cover: business challenge, technical approach, deployment, real-world use cases, and future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D365 is notoriously difficult to test. Traditional UI automation tools struggle with its dynamic nature. Playwright, combined with smart patterns, solves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Emphasize that we chose modern, proven tools with broad ecosystem support. Everything is open-source or available to your org. This is not a proprietary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patterns are the key differentiator. They solve the core problem of D365 testing: dynamic rendering and complex DOM structures. This is NOT generic Playwright—it's Playwright optimized for D365.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through the flow. Emphasize that this is a complete CI/CD integration story—not just tests running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where the framework creates the most immediate value. Every commit is validated. This is a game-changer for development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where the framework pays for itself. A single platform upgrade saves weeks of manual testing. The ROI is enormous.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bridges the gap between business requirements and technical implementation. Tests become a shared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 practical tool that makes the conversion process much smoother. QA doesn't need to figure out how to navigate to each screen; the framework provides the direct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economics are compelling. One platform upgrade pays for years of automation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Show managers we've thought through the failure modes and have mitigation strategies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metrics give managers something concrete to track. ROI becomes measurable and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 realistic about timeline but ambitious about vision. This is a multi-month journey, but the payoff is enormous.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 clear and specific about what you need. Don't be vague. Give them a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Open the floor. Be ready to discuss specifics, timelines, budget. Have examples and data ready to back up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Summarize the vision one more time. Leave them inspired and ready to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 — Title</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D365 F&amp;O Playwright Testing Framework</a:t>
            </a:r>
            <a:endParaRPr lang="en-US" sz="1400" dirty="0"/>
          </a:p>
          <a:p>
            <a:pPr indent="0" marL="0">
              <a:buNone/>
            </a:pPr>
            <a:r>
              <a:rPr lang="en-US" sz="1400" dirty="0">
                <a:solidFill>
                  <a:srgbClr val="363636"/>
                </a:solidFill>
              </a:rPr>
              <a:t>Subtitle: Enterprise-grade test automation for CI/CD, regression, and continuous delivery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2 — Agenda</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 The Challenge: Why Playwright for D365 F&amp;O?</a:t>
            </a:r>
            <a:endParaRPr lang="en-US" sz="1400" dirty="0"/>
          </a:p>
          <a:p>
            <a:pPr indent="0" marL="0">
              <a:buNone/>
            </a:pPr>
            <a:r>
              <a:rPr lang="en-US" sz="1400" dirty="0">
                <a:solidFill>
                  <a:srgbClr val="363636"/>
                </a:solidFill>
              </a:rPr>
              <a:t>- Technology Stack &amp; Architecture</a:t>
            </a:r>
            <a:endParaRPr lang="en-US" sz="1400" dirty="0"/>
          </a:p>
          <a:p>
            <a:pPr indent="0" marL="0">
              <a:buNone/>
            </a:pPr>
            <a:r>
              <a:rPr lang="en-US" sz="1400" dirty="0">
                <a:solidFill>
                  <a:srgbClr val="363636"/>
                </a:solidFill>
              </a:rPr>
              <a:t>- Deployment Methodology (CI/CD integration)</a:t>
            </a:r>
            <a:endParaRPr lang="en-US" sz="1400" dirty="0"/>
          </a:p>
          <a:p>
            <a:pPr indent="0" marL="0">
              <a:buNone/>
            </a:pPr>
            <a:r>
              <a:rPr lang="en-US" sz="1400" dirty="0">
                <a:solidFill>
                  <a:srgbClr val="363636"/>
                </a:solidFill>
              </a:rPr>
              <a:t>- Use Cases: CI/CD, Regression, TDD/BDD</a:t>
            </a:r>
            <a:endParaRPr lang="en-US" sz="1400" dirty="0"/>
          </a:p>
          <a:p>
            <a:pPr indent="0" marL="0">
              <a:buNone/>
            </a:pPr>
            <a:r>
              <a:rPr lang="en-US" sz="1400" dirty="0">
                <a:solidFill>
                  <a:srgbClr val="363636"/>
                </a:solidFill>
              </a:rPr>
              <a:t>- Test Plan Conversion Strategy</a:t>
            </a:r>
            <a:endParaRPr lang="en-US" sz="1400" dirty="0"/>
          </a:p>
          <a:p>
            <a:pPr indent="0" marL="0">
              <a:buNone/>
            </a:pPr>
            <a:r>
              <a:rPr lang="en-US" sz="1400" dirty="0">
                <a:solidFill>
                  <a:srgbClr val="363636"/>
                </a:solidFill>
              </a:rPr>
              <a:t>- Scalability &amp; Cost Efficiency</a:t>
            </a:r>
            <a:endParaRPr lang="en-US" sz="1400" dirty="0"/>
          </a:p>
          <a:p>
            <a:pPr indent="0" marL="0">
              <a:buNone/>
            </a:pPr>
            <a:r>
              <a:rPr lang="en-US" sz="1400" dirty="0">
                <a:solidFill>
                  <a:srgbClr val="363636"/>
                </a:solidFill>
              </a:rPr>
              <a:t>- Roadmap &amp; Next Steps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3 — The Challenge</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D365 F&amp;O is complex:</a:t>
            </a:r>
            <a:endParaRPr lang="en-US" sz="1400" dirty="0"/>
          </a:p>
          <a:p>
            <a:pPr indent="0" marL="0">
              <a:buNone/>
            </a:pPr>
            <a:r>
              <a:rPr lang="en-US" sz="1400" dirty="0">
                <a:solidFill>
                  <a:srgbClr val="363636"/>
                </a:solidFill>
              </a:rPr>
              <a:t>- Dynamic JavaScript rendering and async content loading</a:t>
            </a:r>
            <a:endParaRPr lang="en-US" sz="1400" dirty="0"/>
          </a:p>
          <a:p>
            <a:pPr indent="0" marL="0">
              <a:buNone/>
            </a:pPr>
            <a:r>
              <a:rPr lang="en-US" sz="1400" dirty="0">
                <a:solidFill>
                  <a:srgbClr val="363636"/>
                </a:solidFill>
              </a:rPr>
              <a:t>- Sophisticated DOM structures and form layouts</a:t>
            </a:r>
            <a:endParaRPr lang="en-US" sz="1400" dirty="0"/>
          </a:p>
          <a:p>
            <a:pPr indent="0" marL="0">
              <a:buNone/>
            </a:pPr>
            <a:r>
              <a:rPr lang="en-US" sz="1400" dirty="0">
                <a:solidFill>
                  <a:srgbClr val="363636"/>
                </a:solidFill>
              </a:rPr>
              <a:t>- Rapid iteration cycles (upgrades, patches, new features)</a:t>
            </a:r>
            <a:endParaRPr lang="en-US" sz="1400" dirty="0"/>
          </a:p>
          <a:p>
            <a:pPr indent="0" marL="0">
              <a:buNone/>
            </a:pPr>
            <a:r>
              <a:rPr lang="en-US" sz="1400" dirty="0">
                <a:solidFill>
                  <a:srgbClr val="363636"/>
                </a:solidFill>
              </a:rPr>
              <a:t>- Manual testing is time-consuming, error-prone, and hard to scale</a:t>
            </a:r>
            <a:endParaRPr lang="en-US" sz="1400" dirty="0"/>
          </a:p>
          <a:p>
            <a:pPr indent="0" marL="0">
              <a:buNone/>
            </a:pPr>
            <a:r>
              <a:rPr lang="en-US" sz="1400" dirty="0">
                <a:solidFill>
                  <a:srgbClr val="363636"/>
                </a:solidFill>
              </a:rPr>
              <a:t>Business Impact:</a:t>
            </a:r>
            <a:endParaRPr lang="en-US" sz="1400" dirty="0"/>
          </a:p>
          <a:p>
            <a:pPr indent="0" marL="0">
              <a:buNone/>
            </a:pPr>
            <a:r>
              <a:rPr lang="en-US" sz="1400" dirty="0">
                <a:solidFill>
                  <a:srgbClr val="363636"/>
                </a:solidFill>
              </a:rPr>
              <a:t>- ❌ Every platform upgrade requires weeks of manual regression testing</a:t>
            </a:r>
            <a:endParaRPr lang="en-US" sz="1400" dirty="0"/>
          </a:p>
          <a:p>
            <a:pPr indent="0" marL="0">
              <a:buNone/>
            </a:pPr>
            <a:r>
              <a:rPr lang="en-US" sz="1400" dirty="0">
                <a:solidFill>
                  <a:srgbClr val="363636"/>
                </a:solidFill>
              </a:rPr>
              <a:t>- ❌ Small changes risk breaking hidden functionality</a:t>
            </a:r>
            <a:endParaRPr lang="en-US" sz="1400" dirty="0"/>
          </a:p>
          <a:p>
            <a:pPr indent="0" marL="0">
              <a:buNone/>
            </a:pPr>
            <a:r>
              <a:rPr lang="en-US" sz="1400" dirty="0">
                <a:solidFill>
                  <a:srgbClr val="363636"/>
                </a:solidFill>
              </a:rPr>
              <a:t>- ❌ Testing bottleneck delays feature delivery</a:t>
            </a:r>
            <a:endParaRPr lang="en-US" sz="1400" dirty="0"/>
          </a:p>
          <a:p>
            <a:pPr indent="0" marL="0">
              <a:buNone/>
            </a:pPr>
            <a:r>
              <a:rPr lang="en-US" sz="1400" dirty="0">
                <a:solidFill>
                  <a:srgbClr val="363636"/>
                </a:solidFill>
              </a:rPr>
              <a:t>- ❌ Hard to maintain quality across environments</a:t>
            </a:r>
            <a:endParaRPr lang="en-US" sz="1400" dirty="0"/>
          </a:p>
          <a:p>
            <a:pPr indent="0" marL="0">
              <a:buNone/>
            </a:pPr>
            <a:r>
              <a:rPr lang="en-US" sz="1400" dirty="0">
                <a:solidFill>
                  <a:srgbClr val="363636"/>
                </a:solidFill>
              </a:rPr>
              <a:t>Solution:</a:t>
            </a:r>
            <a:endParaRPr lang="en-US" sz="1400" dirty="0"/>
          </a:p>
          <a:p>
            <a:pPr indent="0" marL="0">
              <a:buNone/>
            </a:pPr>
            <a:r>
              <a:rPr lang="en-US" sz="1400" dirty="0">
                <a:solidFill>
                  <a:srgbClr val="363636"/>
                </a:solidFill>
              </a:rPr>
              <a:t>- ✅ Automated end-to-end (E2E) testing using Playwright</a:t>
            </a:r>
            <a:endParaRPr lang="en-US" sz="1400" dirty="0"/>
          </a:p>
          <a:p>
            <a:pPr indent="0" marL="0">
              <a:buNone/>
            </a:pPr>
            <a:r>
              <a:rPr lang="en-US" sz="1400" dirty="0">
                <a:solidFill>
                  <a:srgbClr val="363636"/>
                </a:solidFill>
              </a:rPr>
              <a:t>- ✅ Deterministic, repeatable tests run continuously in CI/CD</a:t>
            </a:r>
            <a:endParaRPr lang="en-US" sz="1400" dirty="0"/>
          </a:p>
          <a:p>
            <a:pPr indent="0" marL="0">
              <a:buNone/>
            </a:pPr>
            <a:r>
              <a:rPr lang="en-US" sz="1400" dirty="0">
                <a:solidFill>
                  <a:srgbClr val="363636"/>
                </a:solidFill>
              </a:rPr>
              <a:t>- ✅ Shift-left testing: catch issues before they reach production</a:t>
            </a:r>
            <a:endParaRPr lang="en-US" sz="1400" dirty="0"/>
          </a:p>
          <a:p>
            <a:pPr indent="0" marL="0">
              <a:buNone/>
            </a:pPr>
            <a:r>
              <a:rPr lang="en-US" sz="1400" dirty="0">
                <a:solidFill>
                  <a:srgbClr val="363636"/>
                </a:solidFill>
              </a:rPr>
              <a:t>- ✅ Reusable test suite reduces regression cycle from weeks to hours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4 — Technology Stack</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Framework Components:</a:t>
            </a:r>
            <a:endParaRPr lang="en-US" sz="1400" dirty="0"/>
          </a:p>
          <a:p>
            <a:pPr indent="0" marL="0">
              <a:buNone/>
            </a:pPr>
            <a:r>
              <a:rPr lang="en-US" sz="1400" dirty="0">
                <a:solidFill>
                  <a:srgbClr val="363636"/>
                </a:solidFill>
              </a:rPr>
              <a:t>1. **Playwright** (v1.56+)</a:t>
            </a:r>
            <a:endParaRPr lang="en-US" sz="1400" dirty="0"/>
          </a:p>
          <a:p>
            <a:pPr indent="0" marL="0">
              <a:buNone/>
            </a:pPr>
            <a:r>
              <a:rPr lang="en-US" sz="1400" dirty="0">
                <a:solidFill>
                  <a:srgbClr val="363636"/>
                </a:solidFill>
              </a:rPr>
              <a:t>- Cross-browser automation (Chromium, Firefox, WebKit)</a:t>
            </a:r>
            <a:endParaRPr lang="en-US" sz="1400" dirty="0"/>
          </a:p>
          <a:p>
            <a:pPr indent="0" marL="0">
              <a:buNone/>
            </a:pPr>
            <a:r>
              <a:rPr lang="en-US" sz="1400" dirty="0">
                <a:solidFill>
                  <a:srgbClr val="363636"/>
                </a:solidFill>
              </a:rPr>
              <a:t>- Built for modern web apps with async loading</a:t>
            </a:r>
            <a:endParaRPr lang="en-US" sz="1400" dirty="0"/>
          </a:p>
          <a:p>
            <a:pPr indent="0" marL="0">
              <a:buNone/>
            </a:pPr>
            <a:r>
              <a:rPr lang="en-US" sz="1400" dirty="0">
                <a:solidFill>
                  <a:srgbClr val="363636"/>
                </a:solidFill>
              </a:rPr>
              <a:t>- Zero dependencies on legacy tools</a:t>
            </a:r>
            <a:endParaRPr lang="en-US" sz="1400" dirty="0"/>
          </a:p>
          <a:p>
            <a:pPr indent="0" marL="0">
              <a:buNone/>
            </a:pPr>
            <a:r>
              <a:rPr lang="en-US" sz="1400" dirty="0">
                <a:solidFill>
                  <a:srgbClr val="363636"/>
                </a:solidFill>
              </a:rPr>
              <a:t>2. **TypeScript** (type-safe test code)</a:t>
            </a:r>
            <a:endParaRPr lang="en-US" sz="1400" dirty="0"/>
          </a:p>
          <a:p>
            <a:pPr indent="0" marL="0">
              <a:buNone/>
            </a:pPr>
            <a:r>
              <a:rPr lang="en-US" sz="1400" dirty="0">
                <a:solidFill>
                  <a:srgbClr val="363636"/>
                </a:solidFill>
              </a:rPr>
              <a:t>- Catch errors at development time, not in CI</a:t>
            </a:r>
            <a:endParaRPr lang="en-US" sz="1400" dirty="0"/>
          </a:p>
          <a:p>
            <a:pPr indent="0" marL="0">
              <a:buNone/>
            </a:pPr>
            <a:r>
              <a:rPr lang="en-US" sz="1400" dirty="0">
                <a:solidFill>
                  <a:srgbClr val="363636"/>
                </a:solidFill>
              </a:rPr>
              <a:t>- Self-documenting test code</a:t>
            </a:r>
            <a:endParaRPr lang="en-US" sz="1400" dirty="0"/>
          </a:p>
          <a:p>
            <a:pPr indent="0" marL="0">
              <a:buNone/>
            </a:pPr>
            <a:r>
              <a:rPr lang="en-US" sz="1400" dirty="0">
                <a:solidFill>
                  <a:srgbClr val="363636"/>
                </a:solidFill>
              </a:rPr>
              <a:t>- Excellent IDE support and refactoring</a:t>
            </a:r>
            <a:endParaRPr lang="en-US" sz="1400" dirty="0"/>
          </a:p>
          <a:p>
            <a:pPr indent="0" marL="0">
              <a:buNone/>
            </a:pPr>
            <a:r>
              <a:rPr lang="en-US" sz="1400" dirty="0">
                <a:solidFill>
                  <a:srgbClr val="363636"/>
                </a:solidFill>
              </a:rPr>
              <a:t>3. **Node.js + npm** (lightweight runtime)</a:t>
            </a:r>
            <a:endParaRPr lang="en-US" sz="1400" dirty="0"/>
          </a:p>
          <a:p>
            <a:pPr indent="0" marL="0">
              <a:buNone/>
            </a:pPr>
            <a:r>
              <a:rPr lang="en-US" sz="1400" dirty="0">
                <a:solidFill>
                  <a:srgbClr val="363636"/>
                </a:solidFill>
              </a:rPr>
              <a:t>- Minimal infrastructure footprint</a:t>
            </a:r>
            <a:endParaRPr lang="en-US" sz="1400" dirty="0"/>
          </a:p>
          <a:p>
            <a:pPr indent="0" marL="0">
              <a:buNone/>
            </a:pPr>
            <a:r>
              <a:rPr lang="en-US" sz="1400" dirty="0">
                <a:solidFill>
                  <a:srgbClr val="363636"/>
                </a:solidFill>
              </a:rPr>
              <a:t>- Works on Windows, Linux, macOS, Docker</a:t>
            </a:r>
            <a:endParaRPr lang="en-US" sz="1400" dirty="0"/>
          </a:p>
          <a:p>
            <a:pPr indent="0" marL="0">
              <a:buNone/>
            </a:pPr>
            <a:r>
              <a:rPr lang="en-US" sz="1400" dirty="0">
                <a:solidFill>
                  <a:srgbClr val="363636"/>
                </a:solidFill>
              </a:rPr>
              <a:t>- Integrates seamlessly with CI/CD systems</a:t>
            </a:r>
            <a:endParaRPr lang="en-US" sz="1400" dirty="0"/>
          </a:p>
          <a:p>
            <a:pPr indent="0" marL="0">
              <a:buNone/>
            </a:pPr>
            <a:r>
              <a:rPr lang="en-US" sz="1400" dirty="0">
                <a:solidFill>
                  <a:srgbClr val="363636"/>
                </a:solidFill>
              </a:rPr>
              <a:t>4. **Helper Libraries** (D365-specific patterns)</a:t>
            </a:r>
            <a:endParaRPr lang="en-US" sz="1400" dirty="0"/>
          </a:p>
          <a:p>
            <a:pPr indent="0" marL="0">
              <a:buNone/>
            </a:pPr>
            <a:r>
              <a:rPr lang="en-US" sz="1400" dirty="0">
                <a:solidFill>
                  <a:srgbClr val="363636"/>
                </a:solidFill>
              </a:rPr>
              <a:t>- Label → DOM → Value extraction (handles complex forms)</a:t>
            </a:r>
            <a:endParaRPr lang="en-US" sz="1400" dirty="0"/>
          </a:p>
          <a:p>
            <a:pPr indent="0" marL="0">
              <a:buNone/>
            </a:pPr>
            <a:r>
              <a:rPr lang="en-US" sz="1400" dirty="0">
                <a:solidFill>
                  <a:srgbClr val="363636"/>
                </a:solidFill>
              </a:rPr>
              <a:t>- Multi-strategy data retrieval (aria-labelledby, text content, input search)</a:t>
            </a:r>
            <a:endParaRPr lang="en-US" sz="1400" dirty="0"/>
          </a:p>
          <a:p>
            <a:pPr indent="0" marL="0">
              <a:buNone/>
            </a:pPr>
            <a:r>
              <a:rPr lang="en-US" sz="1400" dirty="0">
                <a:solidFill>
                  <a:srgbClr val="363636"/>
                </a:solidFill>
              </a:rPr>
              <a:t>- Centralized authentication &amp; global setup</a:t>
            </a:r>
            <a:endParaRPr lang="en-US" sz="1400" dirty="0"/>
          </a:p>
          <a:p>
            <a:pPr indent="0" marL="0">
              <a:buNone/>
            </a:pPr>
            <a:r>
              <a:rPr lang="en-US" sz="1400" dirty="0">
                <a:solidFill>
                  <a:srgbClr val="363636"/>
                </a:solidFill>
              </a:rPr>
              <a:t>5. **ADO Pipelines** (native CI/CD)</a:t>
            </a:r>
            <a:endParaRPr lang="en-US" sz="1400" dirty="0"/>
          </a:p>
          <a:p>
            <a:pPr indent="0" marL="0">
              <a:buNone/>
            </a:pPr>
            <a:r>
              <a:rPr lang="en-US" sz="1400" dirty="0">
                <a:solidFill>
                  <a:srgbClr val="363636"/>
                </a:solidFill>
              </a:rPr>
              <a:t>- Build and release pipelines</a:t>
            </a:r>
            <a:endParaRPr lang="en-US" sz="1400" dirty="0"/>
          </a:p>
          <a:p>
            <a:pPr indent="0" marL="0">
              <a:buNone/>
            </a:pPr>
            <a:r>
              <a:rPr lang="en-US" sz="1400" dirty="0">
                <a:solidFill>
                  <a:srgbClr val="363636"/>
                </a:solidFill>
              </a:rPr>
              <a:t>- Artifact publishing (test reports)</a:t>
            </a:r>
            <a:endParaRPr lang="en-US" sz="1400" dirty="0"/>
          </a:p>
          <a:p>
            <a:pPr indent="0" marL="0">
              <a:buNone/>
            </a:pPr>
            <a:r>
              <a:rPr lang="en-US" sz="1400" dirty="0">
                <a:solidFill>
                  <a:srgbClr val="363636"/>
                </a:solidFill>
              </a:rPr>
              <a:t>- Scheduled runs (nightly regression, pre-upgrade)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5 — How It Works: D365-Specific Patterns</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Challenge: D365 uses dynamic JavaScript rendering with progressive content loading.</a:t>
            </a:r>
            <a:endParaRPr lang="en-US" sz="1400" dirty="0"/>
          </a:p>
          <a:p>
            <a:pPr indent="0" marL="0">
              <a:buNone/>
            </a:pPr>
            <a:r>
              <a:rPr lang="en-US" sz="1400" dirty="0">
                <a:solidFill>
                  <a:srgbClr val="363636"/>
                </a:solidFill>
              </a:rPr>
              <a:t>Our Solution: Three-Layer Wait Strategy</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Layer 1: Network Idle</a:t>
            </a:r>
            <a:endParaRPr lang="en-US" sz="1400" dirty="0"/>
          </a:p>
          <a:p>
            <a:pPr indent="0" marL="0">
              <a:buNone/>
            </a:pPr>
            <a:r>
              <a:rPr lang="en-US" sz="1400" dirty="0">
                <a:solidFill>
                  <a:srgbClr val="363636"/>
                </a:solidFill>
              </a:rPr>
              <a:t>→ Ensures all HTTP requests complete</a:t>
            </a:r>
            <a:endParaRPr lang="en-US" sz="1400" dirty="0"/>
          </a:p>
          <a:p>
            <a:pPr indent="0" marL="0">
              <a:buNone/>
            </a:pPr>
            <a:r>
              <a:rPr lang="en-US" sz="1400" dirty="0">
                <a:solidFill>
                  <a:srgbClr val="363636"/>
                </a:solidFill>
              </a:rPr>
              <a:t>Layer 2: Content Visibility</a:t>
            </a:r>
            <a:endParaRPr lang="en-US" sz="1400" dirty="0"/>
          </a:p>
          <a:p>
            <a:pPr indent="0" marL="0">
              <a:buNone/>
            </a:pPr>
            <a:r>
              <a:rPr lang="en-US" sz="1400" dirty="0">
                <a:solidFill>
                  <a:srgbClr val="363636"/>
                </a:solidFill>
              </a:rPr>
              <a:t>→ Waits for [role="main"] (page content area)</a:t>
            </a:r>
            <a:endParaRPr lang="en-US" sz="1400" dirty="0"/>
          </a:p>
          <a:p>
            <a:pPr indent="0" marL="0">
              <a:buNone/>
            </a:pPr>
            <a:r>
              <a:rPr lang="en-US" sz="1400" dirty="0">
                <a:solidFill>
                  <a:srgbClr val="363636"/>
                </a:solidFill>
              </a:rPr>
              <a:t>Layer 3: Dynamic Rendering</a:t>
            </a:r>
            <a:endParaRPr lang="en-US" sz="1400" dirty="0"/>
          </a:p>
          <a:p>
            <a:pPr indent="0" marL="0">
              <a:buNone/>
            </a:pPr>
            <a:r>
              <a:rPr lang="en-US" sz="1400" dirty="0">
                <a:solidFill>
                  <a:srgbClr val="363636"/>
                </a:solidFill>
              </a:rPr>
              <a:t>→ Brief pause for JavaScript to settle</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Result: **Deterministic test execution** without flakiness</a:t>
            </a:r>
            <a:endParaRPr lang="en-US" sz="1400" dirty="0"/>
          </a:p>
          <a:p>
            <a:pPr indent="0" marL="0">
              <a:buNone/>
            </a:pPr>
            <a:r>
              <a:rPr lang="en-US" sz="1400" dirty="0">
                <a:solidFill>
                  <a:srgbClr val="363636"/>
                </a:solidFill>
              </a:rPr>
              <a:t>Label → DOM → Value Extraction</a:t>
            </a:r>
            <a:endParaRPr lang="en-US" sz="1400" dirty="0"/>
          </a:p>
          <a:p>
            <a:pPr indent="0" marL="0">
              <a:buNone/>
            </a:pPr>
            <a:r>
              <a:rPr lang="en-US" sz="1400" dirty="0">
                <a:solidFill>
                  <a:srgbClr val="363636"/>
                </a:solidFill>
              </a:rPr>
              <a:t>For complex forms, we use intelligent extraction:</a:t>
            </a:r>
            <a:endParaRPr lang="en-US" sz="1400" dirty="0"/>
          </a:p>
          <a:p>
            <a:pPr indent="0" marL="0">
              <a:buNone/>
            </a:pPr>
            <a:r>
              <a:rPr lang="en-US" sz="1400" dirty="0">
                <a:solidFill>
                  <a:srgbClr val="363636"/>
                </a:solidFill>
              </a:rPr>
              <a:t>- Try aria-labelledby (accessible field association)</a:t>
            </a:r>
            <a:endParaRPr lang="en-US" sz="1400" dirty="0"/>
          </a:p>
          <a:p>
            <a:pPr indent="0" marL="0">
              <a:buNone/>
            </a:pPr>
            <a:r>
              <a:rPr lang="en-US" sz="1400" dirty="0">
                <a:solidFill>
                  <a:srgbClr val="363636"/>
                </a:solidFill>
              </a:rPr>
              <a:t>- Fall back to text cleanup (read-only fields)</a:t>
            </a:r>
            <a:endParaRPr lang="en-US" sz="1400" dirty="0"/>
          </a:p>
          <a:p>
            <a:pPr indent="0" marL="0">
              <a:buNone/>
            </a:pPr>
            <a:r>
              <a:rPr lang="en-US" sz="1400" dirty="0">
                <a:solidFill>
                  <a:srgbClr val="363636"/>
                </a:solidFill>
              </a:rPr>
              <a:t>- Search parent containers for input elements</a:t>
            </a:r>
            <a:endParaRPr lang="en-US" sz="1400" dirty="0"/>
          </a:p>
          <a:p>
            <a:pPr indent="0" marL="0">
              <a:buNone/>
            </a:pPr>
            <a:r>
              <a:rPr lang="en-US" sz="1400" dirty="0">
                <a:solidFill>
                  <a:srgbClr val="363636"/>
                </a:solidFill>
              </a:rPr>
              <a:t>This approach handles:</a:t>
            </a:r>
            <a:endParaRPr lang="en-US" sz="1400" dirty="0"/>
          </a:p>
          <a:p>
            <a:pPr indent="0" marL="0">
              <a:buNone/>
            </a:pPr>
            <a:r>
              <a:rPr lang="en-US" sz="1400" dirty="0">
                <a:solidFill>
                  <a:srgbClr val="363636"/>
                </a:solidFill>
              </a:rPr>
              <a:t>- Editable inputs</a:t>
            </a:r>
            <a:endParaRPr lang="en-US" sz="1400" dirty="0"/>
          </a:p>
          <a:p>
            <a:pPr indent="0" marL="0">
              <a:buNone/>
            </a:pPr>
            <a:r>
              <a:rPr lang="en-US" sz="1400" dirty="0">
                <a:solidFill>
                  <a:srgbClr val="363636"/>
                </a:solidFill>
              </a:rPr>
              <a:t>- Read-only display fields</a:t>
            </a:r>
            <a:endParaRPr lang="en-US" sz="1400" dirty="0"/>
          </a:p>
          <a:p>
            <a:pPr indent="0" marL="0">
              <a:buNone/>
            </a:pPr>
            <a:r>
              <a:rPr lang="en-US" sz="1400" dirty="0">
                <a:solidFill>
                  <a:srgbClr val="363636"/>
                </a:solidFill>
              </a:rPr>
              <a:t>- Dynamic form layouts</a:t>
            </a:r>
            <a:endParaRPr lang="en-US" sz="1400" dirty="0"/>
          </a:p>
          <a:p>
            <a:pPr indent="0" marL="0">
              <a:buNone/>
            </a:pPr>
            <a:r>
              <a:rPr lang="en-US" sz="1400" dirty="0">
                <a:solidFill>
                  <a:srgbClr val="363636"/>
                </a:solidFill>
              </a:rPr>
              <a:t>- Multi-value fields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6 — Deployment Methodology</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Test Execution Pipeline:</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Developer Commit</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ADO Pipeline Triggered</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Global Setup (authenticate, cache session)</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Parallel Test Execution (multiple browsers/environments)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HTML Report Generated</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Artifacts Published</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Pass/Fail Gate (block merge if tests fail)</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Flexibility:</a:t>
            </a:r>
            <a:endParaRPr lang="en-US" sz="1400" dirty="0"/>
          </a:p>
          <a:p>
            <a:pPr indent="0" marL="0">
              <a:buNone/>
            </a:pPr>
            <a:r>
              <a:rPr lang="en-US" sz="1400" dirty="0">
                <a:solidFill>
                  <a:srgbClr val="363636"/>
                </a:solidFill>
              </a:rPr>
              <a:t>- **Nightly Regression Runs** (scheduled, comprehensive)</a:t>
            </a:r>
            <a:endParaRPr lang="en-US" sz="1400" dirty="0"/>
          </a:p>
          <a:p>
            <a:pPr indent="0" marL="0">
              <a:buNone/>
            </a:pPr>
            <a:r>
              <a:rPr lang="en-US" sz="1400" dirty="0">
                <a:solidFill>
                  <a:srgbClr val="363636"/>
                </a:solidFill>
              </a:rPr>
              <a:t>- **Pre-Upgrade Smoke Tests** (baseline before platform upgrade)</a:t>
            </a:r>
            <a:endParaRPr lang="en-US" sz="1400" dirty="0"/>
          </a:p>
          <a:p>
            <a:pPr indent="0" marL="0">
              <a:buNone/>
            </a:pPr>
            <a:r>
              <a:rPr lang="en-US" sz="1400" dirty="0">
                <a:solidFill>
                  <a:srgbClr val="363636"/>
                </a:solidFill>
              </a:rPr>
              <a:t>- **Post-Deployment Validation** (catch production regressions early)</a:t>
            </a:r>
            <a:endParaRPr lang="en-US" sz="1400" dirty="0"/>
          </a:p>
          <a:p>
            <a:pPr indent="0" marL="0">
              <a:buNone/>
            </a:pPr>
            <a:r>
              <a:rPr lang="en-US" sz="1400" dirty="0">
                <a:solidFill>
                  <a:srgbClr val="363636"/>
                </a:solidFill>
              </a:rPr>
              <a:t>- **Developer Local Runs** (debug mode with inspector)</a:t>
            </a:r>
            <a:endParaRPr lang="en-US" sz="1400" dirty="0"/>
          </a:p>
          <a:p>
            <a:pPr indent="0" marL="0">
              <a:buNone/>
            </a:pPr>
            <a:r>
              <a:rPr lang="en-US" sz="1400" dirty="0">
                <a:solidFill>
                  <a:srgbClr val="363636"/>
                </a:solidFill>
              </a:rPr>
              <a:t>- **Manual Trigger** (on-demand testing)</a:t>
            </a:r>
            <a:endParaRPr lang="en-US" sz="1400" dirty="0"/>
          </a:p>
          <a:p>
            <a:pPr indent="0" marL="0">
              <a:buNone/>
            </a:pPr>
            <a:r>
              <a:rPr lang="en-US" sz="1400" dirty="0">
                <a:solidFill>
                  <a:srgbClr val="363636"/>
                </a:solidFill>
              </a:rPr>
              <a:t>Features:</a:t>
            </a:r>
            <a:endParaRPr lang="en-US" sz="1400" dirty="0"/>
          </a:p>
          <a:p>
            <a:pPr indent="0" marL="0">
              <a:buNone/>
            </a:pPr>
            <a:r>
              <a:rPr lang="en-US" sz="1400" dirty="0">
                <a:solidFill>
                  <a:srgbClr val="363636"/>
                </a:solidFill>
              </a:rPr>
              <a:t>- ✅ Cross-browser testing (Chromium, Firefox, WebKit)</a:t>
            </a:r>
            <a:endParaRPr lang="en-US" sz="1400" dirty="0"/>
          </a:p>
          <a:p>
            <a:pPr indent="0" marL="0">
              <a:buNone/>
            </a:pPr>
            <a:r>
              <a:rPr lang="en-US" sz="1400" dirty="0">
                <a:solidFill>
                  <a:srgbClr val="363636"/>
                </a:solidFill>
              </a:rPr>
              <a:t>- ✅ Parallel execution (reduce CI time)</a:t>
            </a:r>
            <a:endParaRPr lang="en-US" sz="1400" dirty="0"/>
          </a:p>
          <a:p>
            <a:pPr indent="0" marL="0">
              <a:buNone/>
            </a:pPr>
            <a:r>
              <a:rPr lang="en-US" sz="1400" dirty="0">
                <a:solidFill>
                  <a:srgbClr val="363636"/>
                </a:solidFill>
              </a:rPr>
              <a:t>- ✅ HTML reports with screenshots on failure</a:t>
            </a:r>
            <a:endParaRPr lang="en-US" sz="1400" dirty="0"/>
          </a:p>
          <a:p>
            <a:pPr indent="0" marL="0">
              <a:buNone/>
            </a:pPr>
            <a:r>
              <a:rPr lang="en-US" sz="1400" dirty="0">
                <a:solidFill>
                  <a:srgbClr val="363636"/>
                </a:solidFill>
              </a:rPr>
              <a:t>- ✅ Artifact retention (audit trail)</a:t>
            </a:r>
            <a:endParaRPr lang="en-US" sz="1400" dirty="0"/>
          </a:p>
          <a:p>
            <a:pPr indent="0" marL="0">
              <a:buNone/>
            </a:pPr>
            <a:r>
              <a:rPr lang="en-US" sz="1400" dirty="0">
                <a:solidFill>
                  <a:srgbClr val="363636"/>
                </a:solidFill>
              </a:rPr>
              <a:t>- ✅ Secure credential storage (no hardcoded passwords)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7 — Use Case 1: CI/CD Pipeline Testing</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Scenario: Every commit to main triggers tests</a:t>
            </a:r>
            <a:endParaRPr lang="en-US" sz="1400" dirty="0"/>
          </a:p>
          <a:p>
            <a:pPr indent="0" marL="0">
              <a:buNone/>
            </a:pPr>
            <a:r>
              <a:rPr lang="en-US" sz="1400" dirty="0">
                <a:solidFill>
                  <a:srgbClr val="363636"/>
                </a:solidFill>
              </a:rPr>
              <a:t>Benefits:</a:t>
            </a:r>
            <a:endParaRPr lang="en-US" sz="1400" dirty="0"/>
          </a:p>
          <a:p>
            <a:pPr indent="0" marL="0">
              <a:buNone/>
            </a:pPr>
            <a:r>
              <a:rPr lang="en-US" sz="1400" dirty="0">
                <a:solidFill>
                  <a:srgbClr val="363636"/>
                </a:solidFill>
              </a:rPr>
              <a:t>- ✅ **Immediate Feedback** (developers know if they broke something in 5 minutes)</a:t>
            </a:r>
            <a:endParaRPr lang="en-US" sz="1400" dirty="0"/>
          </a:p>
          <a:p>
            <a:pPr indent="0" marL="0">
              <a:buNone/>
            </a:pPr>
            <a:r>
              <a:rPr lang="en-US" sz="1400" dirty="0">
                <a:solidFill>
                  <a:srgbClr val="363636"/>
                </a:solidFill>
              </a:rPr>
              <a:t>- ✅ **Quality Gate** (tests must pass before merge to production branch)</a:t>
            </a:r>
            <a:endParaRPr lang="en-US" sz="1400" dirty="0"/>
          </a:p>
          <a:p>
            <a:pPr indent="0" marL="0">
              <a:buNone/>
            </a:pPr>
            <a:r>
              <a:rPr lang="en-US" sz="1400" dirty="0">
                <a:solidFill>
                  <a:srgbClr val="363636"/>
                </a:solidFill>
              </a:rPr>
              <a:t>- ✅ **Audit Trail** (all test runs logged and reported)</a:t>
            </a:r>
            <a:endParaRPr lang="en-US" sz="1400" dirty="0"/>
          </a:p>
          <a:p>
            <a:pPr indent="0" marL="0">
              <a:buNone/>
            </a:pPr>
            <a:r>
              <a:rPr lang="en-US" sz="1400" dirty="0">
                <a:solidFill>
                  <a:srgbClr val="363636"/>
                </a:solidFill>
              </a:rPr>
              <a:t>- ✅ **Regression Prevention** (no one commits untested changes)</a:t>
            </a:r>
            <a:endParaRPr lang="en-US" sz="1400" dirty="0"/>
          </a:p>
          <a:p>
            <a:pPr indent="0" marL="0">
              <a:buNone/>
            </a:pPr>
            <a:r>
              <a:rPr lang="en-US" sz="1400" dirty="0">
                <a:solidFill>
                  <a:srgbClr val="363636"/>
                </a:solidFill>
              </a:rPr>
              <a:t>Integration with ADO:</a:t>
            </a:r>
            <a:endParaRPr lang="en-US" sz="1400" dirty="0"/>
          </a:p>
          <a:p>
            <a:pPr indent="0" marL="0">
              <a:buNone/>
            </a:pPr>
            <a:r>
              <a:rPr lang="en-US" sz="1400" dirty="0">
                <a:solidFill>
                  <a:srgbClr val="363636"/>
                </a:solidFill>
              </a:rPr>
              <a:t>- YAML pipeline automatically runs Playwright tests</a:t>
            </a:r>
            <a:endParaRPr lang="en-US" sz="1400" dirty="0"/>
          </a:p>
          <a:p>
            <a:pPr indent="0" marL="0">
              <a:buNone/>
            </a:pPr>
            <a:r>
              <a:rPr lang="en-US" sz="1400" dirty="0">
                <a:solidFill>
                  <a:srgbClr val="363636"/>
                </a:solidFill>
              </a:rPr>
              <a:t>- Failed tests block PR merge</a:t>
            </a:r>
            <a:endParaRPr lang="en-US" sz="1400" dirty="0"/>
          </a:p>
          <a:p>
            <a:pPr indent="0" marL="0">
              <a:buNone/>
            </a:pPr>
            <a:r>
              <a:rPr lang="en-US" sz="1400" dirty="0">
                <a:solidFill>
                  <a:srgbClr val="363636"/>
                </a:solidFill>
              </a:rPr>
              <a:t>- Reports published as pipeline artifacts</a:t>
            </a:r>
            <a:endParaRPr lang="en-US" sz="1400" dirty="0"/>
          </a:p>
          <a:p>
            <a:pPr indent="0" marL="0">
              <a:buNone/>
            </a:pPr>
            <a:r>
              <a:rPr lang="en-US" sz="1400" dirty="0">
                <a:solidFill>
                  <a:srgbClr val="363636"/>
                </a:solidFill>
              </a:rPr>
              <a:t>- Notifications sent to team (email, Teams)</a:t>
            </a:r>
            <a:endParaRPr lang="en-US" sz="1400" dirty="0"/>
          </a:p>
          <a:p>
            <a:pPr indent="0" marL="0">
              <a:buNone/>
            </a:pPr>
            <a:r>
              <a:rPr lang="en-US" sz="1400" dirty="0">
                <a:solidFill>
                  <a:srgbClr val="363636"/>
                </a:solidFill>
              </a:rPr>
              <a:t>Expected Outcomes:</a:t>
            </a:r>
            <a:endParaRPr lang="en-US" sz="1400" dirty="0"/>
          </a:p>
          <a:p>
            <a:pPr indent="0" marL="0">
              <a:buNone/>
            </a:pPr>
            <a:r>
              <a:rPr lang="en-US" sz="1400" dirty="0">
                <a:solidFill>
                  <a:srgbClr val="363636"/>
                </a:solidFill>
              </a:rPr>
              <a:t>- 🔄 Reduced time to merge (confidence in code quality)</a:t>
            </a:r>
            <a:endParaRPr lang="en-US" sz="1400" dirty="0"/>
          </a:p>
          <a:p>
            <a:pPr indent="0" marL="0">
              <a:buNone/>
            </a:pPr>
            <a:r>
              <a:rPr lang="en-US" sz="1400" dirty="0">
                <a:solidFill>
                  <a:srgbClr val="363636"/>
                </a:solidFill>
              </a:rPr>
              <a:t>- 📊 Early bug detection (before code review or QA)</a:t>
            </a:r>
            <a:endParaRPr lang="en-US" sz="1400" dirty="0"/>
          </a:p>
          <a:p>
            <a:pPr indent="0" marL="0">
              <a:buNone/>
            </a:pPr>
            <a:r>
              <a:rPr lang="en-US" sz="1400" dirty="0">
                <a:solidFill>
                  <a:srgbClr val="363636"/>
                </a:solidFill>
              </a:rPr>
              <a:t>- 🛡️ Safety net for refactoring (change code, run tests, verify nothing broke)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8 — Use Case 2: Regression Testing for Platform Upgrades</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Scenario: D365 F&amp;O platform upgrade planned</a:t>
            </a:r>
            <a:endParaRPr lang="en-US" sz="1400" dirty="0"/>
          </a:p>
          <a:p>
            <a:pPr indent="0" marL="0">
              <a:buNone/>
            </a:pPr>
            <a:r>
              <a:rPr lang="en-US" sz="1400" dirty="0">
                <a:solidFill>
                  <a:srgbClr val="363636"/>
                </a:solidFill>
              </a:rPr>
              <a:t>Traditional Approach:</a:t>
            </a:r>
            <a:endParaRPr lang="en-US" sz="1400" dirty="0"/>
          </a:p>
          <a:p>
            <a:pPr indent="0" marL="0">
              <a:buNone/>
            </a:pPr>
            <a:r>
              <a:rPr lang="en-US" sz="1400" dirty="0">
                <a:solidFill>
                  <a:srgbClr val="363636"/>
                </a:solidFill>
              </a:rPr>
              <a:t>- ❌ Manual QA testing (3–4 weeks)</a:t>
            </a:r>
            <a:endParaRPr lang="en-US" sz="1400" dirty="0"/>
          </a:p>
          <a:p>
            <a:pPr indent="0" marL="0">
              <a:buNone/>
            </a:pPr>
            <a:r>
              <a:rPr lang="en-US" sz="1400" dirty="0">
                <a:solidFill>
                  <a:srgbClr val="363636"/>
                </a:solidFill>
              </a:rPr>
              <a:t>- ❌ High cost, high risk</a:t>
            </a:r>
            <a:endParaRPr lang="en-US" sz="1400" dirty="0"/>
          </a:p>
          <a:p>
            <a:pPr indent="0" marL="0">
              <a:buNone/>
            </a:pPr>
            <a:r>
              <a:rPr lang="en-US" sz="1400" dirty="0">
                <a:solidFill>
                  <a:srgbClr val="363636"/>
                </a:solidFill>
              </a:rPr>
              <a:t>- ❌ Human error and missed scenarios</a:t>
            </a:r>
            <a:endParaRPr lang="en-US" sz="1400" dirty="0"/>
          </a:p>
          <a:p>
            <a:pPr indent="0" marL="0">
              <a:buNone/>
            </a:pPr>
            <a:r>
              <a:rPr lang="en-US" sz="1400" dirty="0">
                <a:solidFill>
                  <a:srgbClr val="363636"/>
                </a:solidFill>
              </a:rPr>
              <a:t>- ❌ Delayed deployment due to testing bottleneck</a:t>
            </a:r>
            <a:endParaRPr lang="en-US" sz="1400" dirty="0"/>
          </a:p>
          <a:p>
            <a:pPr indent="0" marL="0">
              <a:buNone/>
            </a:pPr>
            <a:r>
              <a:rPr lang="en-US" sz="1400" dirty="0">
                <a:solidFill>
                  <a:srgbClr val="363636"/>
                </a:solidFill>
              </a:rPr>
              <a:t>With Playwright Framework:</a:t>
            </a:r>
            <a:endParaRPr lang="en-US" sz="1400" dirty="0"/>
          </a:p>
          <a:p>
            <a:pPr indent="0" marL="0">
              <a:buNone/>
            </a:pPr>
            <a:r>
              <a:rPr lang="en-US" sz="1400" dirty="0">
                <a:solidFill>
                  <a:srgbClr val="363636"/>
                </a:solidFill>
              </a:rPr>
              <a:t>- ✅ Automated regression suite runs in &lt;2 hours</a:t>
            </a:r>
            <a:endParaRPr lang="en-US" sz="1400" dirty="0"/>
          </a:p>
          <a:p>
            <a:pPr indent="0" marL="0">
              <a:buNone/>
            </a:pPr>
            <a:r>
              <a:rPr lang="en-US" sz="1400" dirty="0">
                <a:solidFill>
                  <a:srgbClr val="363636"/>
                </a:solidFill>
              </a:rPr>
              <a:t>- ✅ Tests cover hundreds of scenarios</a:t>
            </a:r>
            <a:endParaRPr lang="en-US" sz="1400" dirty="0"/>
          </a:p>
          <a:p>
            <a:pPr indent="0" marL="0">
              <a:buNone/>
            </a:pPr>
            <a:r>
              <a:rPr lang="en-US" sz="1400" dirty="0">
                <a:solidFill>
                  <a:srgbClr val="363636"/>
                </a:solidFill>
              </a:rPr>
              <a:t>- ✅ Baseline run (pre-upgrade) vs. post-upgrade comparison</a:t>
            </a:r>
            <a:endParaRPr lang="en-US" sz="1400" dirty="0"/>
          </a:p>
          <a:p>
            <a:pPr indent="0" marL="0">
              <a:buNone/>
            </a:pPr>
            <a:r>
              <a:rPr lang="en-US" sz="1400" dirty="0">
                <a:solidFill>
                  <a:srgbClr val="363636"/>
                </a:solidFill>
              </a:rPr>
              <a:t>- ✅ Immediate identification of breaking changes</a:t>
            </a:r>
            <a:endParaRPr lang="en-US" sz="1400" dirty="0"/>
          </a:p>
          <a:p>
            <a:pPr indent="0" marL="0">
              <a:buNone/>
            </a:pPr>
            <a:r>
              <a:rPr lang="en-US" sz="1400" dirty="0">
                <a:solidFill>
                  <a:srgbClr val="363636"/>
                </a:solidFill>
              </a:rPr>
              <a:t>Execution:</a:t>
            </a:r>
            <a:endParaRPr lang="en-US" sz="1400" dirty="0"/>
          </a:p>
          <a:p>
            <a:pPr indent="0" marL="0">
              <a:buNone/>
            </a:pPr>
            <a:r>
              <a:rPr lang="en-US" sz="1400" dirty="0">
                <a:solidFill>
                  <a:srgbClr val="363636"/>
                </a:solidFill>
              </a:rPr>
              <a:t>1. Pre-Upgrade Run: Establish baseline</a:t>
            </a:r>
            <a:endParaRPr lang="en-US" sz="1400" dirty="0"/>
          </a:p>
          <a:p>
            <a:pPr indent="0" marL="0">
              <a:buNone/>
            </a:pPr>
            <a:r>
              <a:rPr lang="en-US" sz="1400" dirty="0">
                <a:solidFill>
                  <a:srgbClr val="363636"/>
                </a:solidFill>
              </a:rPr>
              <a:t>2. Apply Upgrade: Execute D365 platform upgrade</a:t>
            </a:r>
            <a:endParaRPr lang="en-US" sz="1400" dirty="0"/>
          </a:p>
          <a:p>
            <a:pPr indent="0" marL="0">
              <a:buNone/>
            </a:pPr>
            <a:r>
              <a:rPr lang="en-US" sz="1400" dirty="0">
                <a:solidFill>
                  <a:srgbClr val="363636"/>
                </a:solidFill>
              </a:rPr>
              <a:t>3. Post-Upgrade Run: Compare results</a:t>
            </a:r>
            <a:endParaRPr lang="en-US" sz="1400" dirty="0"/>
          </a:p>
          <a:p>
            <a:pPr indent="0" marL="0">
              <a:buNone/>
            </a:pPr>
            <a:r>
              <a:rPr lang="en-US" sz="1400" dirty="0">
                <a:solidFill>
                  <a:srgbClr val="363636"/>
                </a:solidFill>
              </a:rPr>
              <a:t>4. Report: Highlight any differences (new failures = regressions)</a:t>
            </a:r>
            <a:endParaRPr lang="en-US" sz="1400" dirty="0"/>
          </a:p>
          <a:p>
            <a:pPr indent="0" marL="0">
              <a:buNone/>
            </a:pPr>
            <a:r>
              <a:rPr lang="en-US" sz="1400" dirty="0">
                <a:solidFill>
                  <a:srgbClr val="363636"/>
                </a:solidFill>
              </a:rPr>
              <a:t>5. Remediate: Fix regressions or update tests (if behavior changed intentionally)</a:t>
            </a:r>
            <a:endParaRPr lang="en-US" sz="1400" dirty="0"/>
          </a:p>
          <a:p>
            <a:pPr indent="0" marL="0">
              <a:buNone/>
            </a:pPr>
            <a:r>
              <a:rPr lang="en-US" sz="1400" dirty="0">
                <a:solidFill>
                  <a:srgbClr val="363636"/>
                </a:solidFill>
              </a:rPr>
              <a:t>Impact:</a:t>
            </a:r>
            <a:endParaRPr lang="en-US" sz="1400" dirty="0"/>
          </a:p>
          <a:p>
            <a:pPr indent="0" marL="0">
              <a:buNone/>
            </a:pPr>
            <a:r>
              <a:rPr lang="en-US" sz="1400" dirty="0">
                <a:solidFill>
                  <a:srgbClr val="363636"/>
                </a:solidFill>
              </a:rPr>
              <a:t>- 🚀 Reduce upgrade cycle from weeks to days</a:t>
            </a:r>
            <a:endParaRPr lang="en-US" sz="1400" dirty="0"/>
          </a:p>
          <a:p>
            <a:pPr indent="0" marL="0">
              <a:buNone/>
            </a:pPr>
            <a:r>
              <a:rPr lang="en-US" sz="1400" dirty="0">
                <a:solidFill>
                  <a:srgbClr val="363636"/>
                </a:solidFill>
              </a:rPr>
              <a:t>- 💰 Free QA team for exploratory/UAT testing</a:t>
            </a:r>
            <a:endParaRPr lang="en-US" sz="1400" dirty="0"/>
          </a:p>
          <a:p>
            <a:pPr indent="0" marL="0">
              <a:buNone/>
            </a:pPr>
            <a:r>
              <a:rPr lang="en-US" sz="1400" dirty="0">
                <a:solidFill>
                  <a:srgbClr val="363636"/>
                </a:solidFill>
              </a:rPr>
              <a:t>- 🎯 Catch regressions before production</a:t>
            </a:r>
            <a:endParaRPr lang="en-US" sz="1400" dirty="0"/>
          </a:p>
          <a:p>
            <a:pPr indent="0" marL="0">
              <a:buNone/>
            </a:pPr>
            <a:r>
              <a:rPr lang="en-US" sz="1400" dirty="0">
                <a:solidFill>
                  <a:srgbClr val="363636"/>
                </a:solidFill>
              </a:rPr>
              <a:t>- 📈 Increase deployment confidence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9 — Use Case 3: TDD/BDD Workflows</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Test-Driven Development (TDD):</a:t>
            </a:r>
            <a:endParaRPr lang="en-US" sz="1400" dirty="0"/>
          </a:p>
          <a:p>
            <a:pPr indent="0" marL="0">
              <a:buNone/>
            </a:pPr>
            <a:r>
              <a:rPr lang="en-US" sz="1400" dirty="0">
                <a:solidFill>
                  <a:srgbClr val="363636"/>
                </a:solidFill>
              </a:rPr>
              <a:t>- Write test before code</a:t>
            </a:r>
            <a:endParaRPr lang="en-US" sz="1400" dirty="0"/>
          </a:p>
          <a:p>
            <a:pPr indent="0" marL="0">
              <a:buNone/>
            </a:pPr>
            <a:r>
              <a:rPr lang="en-US" sz="1400" dirty="0">
                <a:solidFill>
                  <a:srgbClr val="363636"/>
                </a:solidFill>
              </a:rPr>
              <a:t>- Red → Green → Refactor cycle</a:t>
            </a:r>
            <a:endParaRPr lang="en-US" sz="1400" dirty="0"/>
          </a:p>
          <a:p>
            <a:pPr indent="0" marL="0">
              <a:buNone/>
            </a:pPr>
            <a:r>
              <a:rPr lang="en-US" sz="1400" dirty="0">
                <a:solidFill>
                  <a:srgbClr val="363636"/>
                </a:solidFill>
              </a:rPr>
              <a:t>- Developer confidence grows with each passing test</a:t>
            </a:r>
            <a:endParaRPr lang="en-US" sz="1400" dirty="0"/>
          </a:p>
          <a:p>
            <a:pPr indent="0" marL="0">
              <a:buNone/>
            </a:pPr>
            <a:r>
              <a:rPr lang="en-US" sz="1400" dirty="0">
                <a:solidFill>
                  <a:srgbClr val="363636"/>
                </a:solidFill>
              </a:rPr>
              <a:t>Behavior-Driven Development (BDD):</a:t>
            </a:r>
            <a:endParaRPr lang="en-US" sz="1400" dirty="0"/>
          </a:p>
          <a:p>
            <a:pPr indent="0" marL="0">
              <a:buNone/>
            </a:pPr>
            <a:r>
              <a:rPr lang="en-US" sz="1400" dirty="0">
                <a:solidFill>
                  <a:srgbClr val="363636"/>
                </a:solidFill>
              </a:rPr>
              <a:t>- Stakeholders define acceptance criteria in plain language</a:t>
            </a:r>
            <a:endParaRPr lang="en-US" sz="1400" dirty="0"/>
          </a:p>
          <a:p>
            <a:pPr indent="0" marL="0">
              <a:buNone/>
            </a:pPr>
            <a:r>
              <a:rPr lang="en-US" sz="1400" dirty="0">
                <a:solidFill>
                  <a:srgbClr val="363636"/>
                </a:solidFill>
              </a:rPr>
              <a:t>- Tests document expected system behavior</a:t>
            </a:r>
            <a:endParaRPr lang="en-US" sz="1400" dirty="0"/>
          </a:p>
          <a:p>
            <a:pPr indent="0" marL="0">
              <a:buNone/>
            </a:pPr>
            <a:r>
              <a:rPr lang="en-US" sz="1400" dirty="0">
                <a:solidFill>
                  <a:srgbClr val="363636"/>
                </a:solidFill>
              </a:rPr>
              <a:t>- Communication across business, QA, and dev teams</a:t>
            </a:r>
            <a:endParaRPr lang="en-US" sz="1400" dirty="0"/>
          </a:p>
          <a:p>
            <a:pPr indent="0" marL="0">
              <a:buNone/>
            </a:pPr>
            <a:r>
              <a:rPr lang="en-US" sz="1400" dirty="0">
                <a:solidFill>
                  <a:srgbClr val="363636"/>
                </a:solidFill>
              </a:rPr>
              <a:t>Our Framework Enables:</a:t>
            </a:r>
            <a:endParaRPr lang="en-US" sz="1400" dirty="0"/>
          </a:p>
          <a:p>
            <a:pPr indent="0" marL="0">
              <a:buNone/>
            </a:pPr>
            <a:r>
              <a:rPr lang="en-US" sz="1400" dirty="0">
                <a:solidFill>
                  <a:srgbClr val="363636"/>
                </a:solidFill>
              </a:rPr>
              <a:t>1. **Test Templates from ADO Plans**</a:t>
            </a:r>
            <a:endParaRPr lang="en-US" sz="1400" dirty="0"/>
          </a:p>
          <a:p>
            <a:pPr indent="0" marL="0">
              <a:buNone/>
            </a:pPr>
            <a:r>
              <a:rPr lang="en-US" sz="1400" dirty="0">
                <a:solidFill>
                  <a:srgbClr val="363636"/>
                </a:solidFill>
              </a:rPr>
              <a:t>- Convert ADO test cases to Playwright `.spec.ts` files</a:t>
            </a:r>
            <a:endParaRPr lang="en-US" sz="1400" dirty="0"/>
          </a:p>
          <a:p>
            <a:pPr indent="0" marL="0">
              <a:buNone/>
            </a:pPr>
            <a:r>
              <a:rPr lang="en-US" sz="1400" dirty="0">
                <a:solidFill>
                  <a:srgbClr val="363636"/>
                </a:solidFill>
              </a:rPr>
              <a:t>- Use consistent patterns for all tests</a:t>
            </a:r>
            <a:endParaRPr lang="en-US" sz="1400" dirty="0"/>
          </a:p>
          <a:p>
            <a:pPr indent="0" marL="0">
              <a:buNone/>
            </a:pPr>
            <a:r>
              <a:rPr lang="en-US" sz="1400" dirty="0">
                <a:solidFill>
                  <a:srgbClr val="363636"/>
                </a:solidFill>
              </a:rPr>
              <a:t>- Developer writes test, then implements feature</a:t>
            </a:r>
            <a:endParaRPr lang="en-US" sz="1400" dirty="0"/>
          </a:p>
          <a:p>
            <a:pPr indent="0" marL="0">
              <a:buNone/>
            </a:pPr>
            <a:r>
              <a:rPr lang="en-US" sz="1400" dirty="0">
                <a:solidFill>
                  <a:srgbClr val="363636"/>
                </a:solidFill>
              </a:rPr>
              <a:t>2. **Readable Test Code**</a:t>
            </a:r>
            <a:endParaRPr lang="en-US" sz="1400" dirty="0"/>
          </a:p>
          <a:p>
            <a:pPr indent="0" marL="0">
              <a:buNone/>
            </a:pPr>
            <a:r>
              <a:rPr lang="en-US" sz="1400" dirty="0">
                <a:solidFill>
                  <a:srgbClr val="363636"/>
                </a:solidFill>
              </a:rPr>
              <a:t>- TypeScript is close to pseudocode</a:t>
            </a:r>
            <a:endParaRPr lang="en-US" sz="1400" dirty="0"/>
          </a:p>
          <a:p>
            <a:pPr indent="0" marL="0">
              <a:buNone/>
            </a:pPr>
            <a:r>
              <a:rPr lang="en-US" sz="1400" dirty="0">
                <a:solidFill>
                  <a:srgbClr val="363636"/>
                </a:solidFill>
              </a:rPr>
              <a:t>- Clear test names describe what is being tested</a:t>
            </a:r>
            <a:endParaRPr lang="en-US" sz="1400" dirty="0"/>
          </a:p>
          <a:p>
            <a:pPr indent="0" marL="0">
              <a:buNone/>
            </a:pPr>
            <a:r>
              <a:rPr lang="en-US" sz="1400" dirty="0">
                <a:solidFill>
                  <a:srgbClr val="363636"/>
                </a:solidFill>
              </a:rPr>
              <a:t>- Helper functions abstract complexity</a:t>
            </a:r>
            <a:endParaRPr lang="en-US" sz="1400" dirty="0"/>
          </a:p>
          <a:p>
            <a:pPr indent="0" marL="0">
              <a:buNone/>
            </a:pPr>
            <a:r>
              <a:rPr lang="en-US" sz="1400" dirty="0">
                <a:solidFill>
                  <a:srgbClr val="363636"/>
                </a:solidFill>
              </a:rPr>
              <a:t>3. **Living Documentation**</a:t>
            </a:r>
            <a:endParaRPr lang="en-US" sz="1400" dirty="0"/>
          </a:p>
          <a:p>
            <a:pPr indent="0" marL="0">
              <a:buNone/>
            </a:pPr>
            <a:r>
              <a:rPr lang="en-US" sz="1400" dirty="0">
                <a:solidFill>
                  <a:srgbClr val="363636"/>
                </a:solidFill>
              </a:rPr>
              <a:t>- Each test is a spec of how the system should behave</a:t>
            </a:r>
            <a:endParaRPr lang="en-US" sz="1400" dirty="0"/>
          </a:p>
          <a:p>
            <a:pPr indent="0" marL="0">
              <a:buNone/>
            </a:pPr>
            <a:r>
              <a:rPr lang="en-US" sz="1400" dirty="0">
                <a:solidFill>
                  <a:srgbClr val="363636"/>
                </a:solidFill>
              </a:rPr>
              <a:t>- No drift between code and documentation</a:t>
            </a:r>
            <a:endParaRPr lang="en-US" sz="1400" dirty="0"/>
          </a:p>
          <a:p>
            <a:pPr indent="0" marL="0">
              <a:buNone/>
            </a:pPr>
            <a:r>
              <a:rPr lang="en-US" sz="1400" dirty="0">
                <a:solidFill>
                  <a:srgbClr val="363636"/>
                </a:solidFill>
              </a:rPr>
              <a:t>- Executives can read test names and understand what was tested</a:t>
            </a:r>
            <a:endParaRPr lang="en-US" sz="1400" dirty="0"/>
          </a:p>
          <a:p>
            <a:pPr indent="0" marL="0">
              <a:buNone/>
            </a:pPr>
            <a:r>
              <a:rPr lang="en-US" sz="1400" dirty="0">
                <a:solidFill>
                  <a:srgbClr val="363636"/>
                </a:solidFill>
              </a:rPr>
              <a:t>Example Test Name:</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test('ADO #41908: Validate employee for Ready to Pay', async ({ page }) =&gt; { ... })</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This alone tells you:</a:t>
            </a:r>
            <a:endParaRPr lang="en-US" sz="1400" dirty="0"/>
          </a:p>
          <a:p>
            <a:pPr indent="0" marL="0">
              <a:buNone/>
            </a:pPr>
            <a:r>
              <a:rPr lang="en-US" sz="1400" dirty="0">
                <a:solidFill>
                  <a:srgbClr val="363636"/>
                </a:solidFill>
              </a:rPr>
              <a:t>- Traceability to ADO test plan #41908</a:t>
            </a:r>
            <a:endParaRPr lang="en-US" sz="1400" dirty="0"/>
          </a:p>
          <a:p>
            <a:pPr indent="0" marL="0">
              <a:buNone/>
            </a:pPr>
            <a:r>
              <a:rPr lang="en-US" sz="1400" dirty="0">
                <a:solidFill>
                  <a:srgbClr val="363636"/>
                </a:solidFill>
              </a:rPr>
              <a:t>- What is being validated (employee ready-to-pay status)</a:t>
            </a:r>
            <a:endParaRPr lang="en-US" sz="1400" dirty="0"/>
          </a:p>
          <a:p>
            <a:pPr indent="0" marL="0">
              <a:buNone/>
            </a:pPr>
            <a:r>
              <a:rPr lang="en-US" sz="1400" dirty="0">
                <a:solidFill>
                  <a:srgbClr val="363636"/>
                </a:solidFill>
              </a:rPr>
              <a:t>- What system component (ADO #41908 = from test plan)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10 — Test Plan Conversion: From ADO to Playwright</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Challenge: You have 100+ ADO test cases. Converting manually is time-consuming.</a:t>
            </a:r>
            <a:endParaRPr lang="en-US" sz="1400" dirty="0"/>
          </a:p>
          <a:p>
            <a:pPr indent="0" marL="0">
              <a:buNone/>
            </a:pPr>
            <a:r>
              <a:rPr lang="en-US" sz="1400" dirty="0">
                <a:solidFill>
                  <a:srgbClr val="363636"/>
                </a:solidFill>
              </a:rPr>
              <a:t>Solution: Streamlined Conversion Process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ADO Test Plan (CSV/Azure DevOps)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Extract Test Steps &amp; Expected Results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Map Actions to D365 URLs + Selectors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Generate Playwright Template (.spec.ts)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Developer Review &amp; Refinement</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Add Three-Layer Waits &amp; Helpers</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Production-Ready Test</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Key Innovation: URL Glossary</a:t>
            </a:r>
            <a:endParaRPr lang="en-US" sz="1400" dirty="0"/>
          </a:p>
          <a:p>
            <a:pPr indent="0" marL="0">
              <a:buNone/>
            </a:pPr>
            <a:r>
              <a:rPr lang="en-US" sz="1400" dirty="0">
                <a:solidFill>
                  <a:srgbClr val="363636"/>
                </a:solidFill>
              </a:rPr>
              <a:t>We maintain a "D365 URL Glossary" mapping common test scenarios to direct links:</a:t>
            </a:r>
            <a:endParaRPr lang="en-US" sz="1400" dirty="0"/>
          </a:p>
          <a:p>
            <a:pPr indent="0" marL="0">
              <a:buNone/>
            </a:pPr>
            <a:r>
              <a:rPr lang="en-US" sz="1400" dirty="0">
                <a:solidFill>
                  <a:srgbClr val="363636"/>
                </a:solidFill>
              </a:rPr>
              <a:t>| Scenario | URL |</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 Workers List | `/?cmp=4415&amp;mi=HcmWorkerListPage` |</a:t>
            </a:r>
            <a:endParaRPr lang="en-US" sz="1400" dirty="0"/>
          </a:p>
          <a:p>
            <a:pPr indent="0" marL="0">
              <a:buNone/>
            </a:pPr>
            <a:r>
              <a:rPr lang="en-US" sz="1400" dirty="0">
                <a:solidFill>
                  <a:srgbClr val="363636"/>
                </a:solidFill>
              </a:rPr>
              <a:t>| Employee Self Service | `/?cmp=4415&amp;mi=HcmEmployeeSelfServiceWorkspace` |</a:t>
            </a:r>
            <a:endParaRPr lang="en-US" sz="1400" dirty="0"/>
          </a:p>
          <a:p>
            <a:pPr indent="0" marL="0">
              <a:buNone/>
            </a:pPr>
            <a:r>
              <a:rPr lang="en-US" sz="1400" dirty="0">
                <a:solidFill>
                  <a:srgbClr val="363636"/>
                </a:solidFill>
              </a:rPr>
              <a:t>| Compensation Management | `/?cmp=4415&amp;mi=CompensationManagementWorkspace` |</a:t>
            </a:r>
            <a:endParaRPr lang="en-US" sz="1400" dirty="0"/>
          </a:p>
          <a:p>
            <a:pPr indent="0" marL="0">
              <a:buNone/>
            </a:pPr>
            <a:r>
              <a:rPr lang="en-US" sz="1400" dirty="0">
                <a:solidFill>
                  <a:srgbClr val="363636"/>
                </a:solidFill>
              </a:rPr>
              <a:t>| Payroll Processing | `/?cmp=4415&amp;mi=PayrollProcessing` |</a:t>
            </a:r>
            <a:endParaRPr lang="en-US" sz="1400" dirty="0"/>
          </a:p>
          <a:p>
            <a:pPr indent="0" marL="0">
              <a:buNone/>
            </a:pPr>
            <a:r>
              <a:rPr lang="en-US" sz="1400" dirty="0">
                <a:solidFill>
                  <a:srgbClr val="363636"/>
                </a:solidFill>
              </a:rPr>
              <a:t>| Leave Management | `/?cmp=4415&amp;mi=LeaveManagement` |</a:t>
            </a:r>
            <a:endParaRPr lang="en-US" sz="1400" dirty="0"/>
          </a:p>
          <a:p>
            <a:pPr indent="0" marL="0">
              <a:buNone/>
            </a:pPr>
            <a:r>
              <a:rPr lang="en-US" sz="1400" dirty="0">
                <a:solidFill>
                  <a:srgbClr val="363636"/>
                </a:solidFill>
              </a:rPr>
              <a:t>| Organization Chart | `/?cmp=4415&amp;mi=OrgChart` |</a:t>
            </a:r>
            <a:endParaRPr lang="en-US" sz="1400" dirty="0"/>
          </a:p>
          <a:p>
            <a:pPr indent="0" marL="0">
              <a:buNone/>
            </a:pPr>
            <a:r>
              <a:rPr lang="en-US" sz="1400" dirty="0">
                <a:solidFill>
                  <a:srgbClr val="363636"/>
                </a:solidFill>
              </a:rPr>
              <a:t>(Full glossary in `docs/D365_URL_GLOSSARY.md`)</a:t>
            </a:r>
            <a:endParaRPr lang="en-US" sz="1400" dirty="0"/>
          </a:p>
          <a:p>
            <a:pPr indent="0" marL="0">
              <a:buNone/>
            </a:pPr>
            <a:r>
              <a:rPr lang="en-US" sz="1400" dirty="0">
                <a:solidFill>
                  <a:srgbClr val="363636"/>
                </a:solidFill>
              </a:rPr>
              <a:t>Benefits:</a:t>
            </a:r>
            <a:endParaRPr lang="en-US" sz="1400" dirty="0"/>
          </a:p>
          <a:p>
            <a:pPr indent="0" marL="0">
              <a:buNone/>
            </a:pPr>
            <a:r>
              <a:rPr lang="en-US" sz="1400" dirty="0">
                <a:solidFill>
                  <a:srgbClr val="363636"/>
                </a:solidFill>
              </a:rPr>
              <a:t>- ✅ No manual UI navigation (faster test execution)</a:t>
            </a:r>
            <a:endParaRPr lang="en-US" sz="1400" dirty="0"/>
          </a:p>
          <a:p>
            <a:pPr indent="0" marL="0">
              <a:buNone/>
            </a:pPr>
            <a:r>
              <a:rPr lang="en-US" sz="1400" dirty="0">
                <a:solidFill>
                  <a:srgbClr val="363636"/>
                </a:solidFill>
              </a:rPr>
              <a:t>- ✅ Reduce test flakiness (fewer menu clicks to fail)</a:t>
            </a:r>
            <a:endParaRPr lang="en-US" sz="1400" dirty="0"/>
          </a:p>
          <a:p>
            <a:pPr indent="0" marL="0">
              <a:buNone/>
            </a:pPr>
            <a:r>
              <a:rPr lang="en-US" sz="1400" dirty="0">
                <a:solidFill>
                  <a:srgbClr val="363636"/>
                </a:solidFill>
              </a:rPr>
              <a:t>- ✅ Easier test maintenance (centralized URL refs)</a:t>
            </a:r>
            <a:endParaRPr lang="en-US" sz="1400" dirty="0"/>
          </a:p>
          <a:p>
            <a:pPr indent="0" marL="0">
              <a:buNone/>
            </a:pPr>
            <a:r>
              <a:rPr lang="en-US" sz="1400" dirty="0">
                <a:solidFill>
                  <a:srgbClr val="363636"/>
                </a:solidFill>
              </a:rPr>
              <a:t>- ✅ Faster ADO-to-Playwright conversion (copy-paste URLs)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11 — Scalability &amp; Cost Efficiency</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Framework Scales Across Your Organization:</a:t>
            </a:r>
            <a:endParaRPr lang="en-US" sz="1400" dirty="0"/>
          </a:p>
          <a:p>
            <a:pPr indent="0" marL="0">
              <a:buNone/>
            </a:pPr>
            <a:r>
              <a:rPr lang="en-US" sz="1400" dirty="0">
                <a:solidFill>
                  <a:srgbClr val="363636"/>
                </a:solidFill>
              </a:rPr>
              <a:t>- **Single Test**: $50 developer time to write</a:t>
            </a:r>
            <a:endParaRPr lang="en-US" sz="1400" dirty="0"/>
          </a:p>
          <a:p>
            <a:pPr indent="0" marL="0">
              <a:buNone/>
            </a:pPr>
            <a:r>
              <a:rPr lang="en-US" sz="1400" dirty="0">
                <a:solidFill>
                  <a:srgbClr val="363636"/>
                </a:solidFill>
              </a:rPr>
              <a:t>- **10 Tests**: ~$500 (reuse of helpers, patterns)</a:t>
            </a:r>
            <a:endParaRPr lang="en-US" sz="1400" dirty="0"/>
          </a:p>
          <a:p>
            <a:pPr indent="0" marL="0">
              <a:buNone/>
            </a:pPr>
            <a:r>
              <a:rPr lang="en-US" sz="1400" dirty="0">
                <a:solidFill>
                  <a:srgbClr val="363636"/>
                </a:solidFill>
              </a:rPr>
              <a:t>- **100 Tests**: ~$4,000–5,000 (10–15% reduction per test as patterns mature)</a:t>
            </a:r>
            <a:endParaRPr lang="en-US" sz="1400" dirty="0"/>
          </a:p>
          <a:p>
            <a:pPr indent="0" marL="0">
              <a:buNone/>
            </a:pPr>
            <a:r>
              <a:rPr lang="en-US" sz="1400" dirty="0">
                <a:solidFill>
                  <a:srgbClr val="363636"/>
                </a:solidFill>
              </a:rPr>
              <a:t>- **1,000+ Tests**: Amortized cost &lt;$5/test (massive reuse)</a:t>
            </a:r>
            <a:endParaRPr lang="en-US" sz="1400" dirty="0"/>
          </a:p>
          <a:p>
            <a:pPr indent="0" marL="0">
              <a:buNone/>
            </a:pPr>
            <a:r>
              <a:rPr lang="en-US" sz="1400" dirty="0">
                <a:solidFill>
                  <a:srgbClr val="363636"/>
                </a:solidFill>
              </a:rPr>
              <a:t>Why It's Cost-Efficient:</a:t>
            </a:r>
            <a:endParaRPr lang="en-US" sz="1400" dirty="0"/>
          </a:p>
          <a:p>
            <a:pPr indent="0" marL="0">
              <a:buNone/>
            </a:pPr>
            <a:r>
              <a:rPr lang="en-US" sz="1400" dirty="0">
                <a:solidFill>
                  <a:srgbClr val="363636"/>
                </a:solidFill>
              </a:rPr>
              <a:t>1. **Reusable Helpers** (write once, use everywhere)</a:t>
            </a:r>
            <a:endParaRPr lang="en-US" sz="1400" dirty="0"/>
          </a:p>
          <a:p>
            <a:pPr indent="0" marL="0">
              <a:buNone/>
            </a:pPr>
            <a:r>
              <a:rPr lang="en-US" sz="1400" dirty="0">
                <a:solidFill>
                  <a:srgbClr val="363636"/>
                </a:solidFill>
              </a:rPr>
              <a:t>- `extractFieldValue()` used by 50+ tests</a:t>
            </a:r>
            <a:endParaRPr lang="en-US" sz="1400" dirty="0"/>
          </a:p>
          <a:p>
            <a:pPr indent="0" marL="0">
              <a:buNone/>
            </a:pPr>
            <a:r>
              <a:rPr lang="en-US" sz="1400" dirty="0">
                <a:solidFill>
                  <a:srgbClr val="363636"/>
                </a:solidFill>
              </a:rPr>
              <a:t>- `validateWorkerReady()` used by 20+ tests</a:t>
            </a:r>
            <a:endParaRPr lang="en-US" sz="1400" dirty="0"/>
          </a:p>
          <a:p>
            <a:pPr indent="0" marL="0">
              <a:buNone/>
            </a:pPr>
            <a:r>
              <a:rPr lang="en-US" sz="1400" dirty="0">
                <a:solidFill>
                  <a:srgbClr val="363636"/>
                </a:solidFill>
              </a:rPr>
              <a:t>- Common patterns = less code per test</a:t>
            </a:r>
            <a:endParaRPr lang="en-US" sz="1400" dirty="0"/>
          </a:p>
          <a:p>
            <a:pPr indent="0" marL="0">
              <a:buNone/>
            </a:pPr>
            <a:r>
              <a:rPr lang="en-US" sz="1400" dirty="0">
                <a:solidFill>
                  <a:srgbClr val="363636"/>
                </a:solidFill>
              </a:rPr>
              <a:t>2. **Infrastructure is Free/Cheap**</a:t>
            </a:r>
            <a:endParaRPr lang="en-US" sz="1400" dirty="0"/>
          </a:p>
          <a:p>
            <a:pPr indent="0" marL="0">
              <a:buNone/>
            </a:pPr>
            <a:r>
              <a:rPr lang="en-US" sz="1400" dirty="0">
                <a:solidFill>
                  <a:srgbClr val="363636"/>
                </a:solidFill>
              </a:rPr>
              <a:t>- Node.js: $0</a:t>
            </a:r>
            <a:endParaRPr lang="en-US" sz="1400" dirty="0"/>
          </a:p>
          <a:p>
            <a:pPr indent="0" marL="0">
              <a:buNone/>
            </a:pPr>
            <a:r>
              <a:rPr lang="en-US" sz="1400" dirty="0">
                <a:solidFill>
                  <a:srgbClr val="363636"/>
                </a:solidFill>
              </a:rPr>
              <a:t>- Playwright: $0 (open-source)</a:t>
            </a:r>
            <a:endParaRPr lang="en-US" sz="1400" dirty="0"/>
          </a:p>
          <a:p>
            <a:pPr indent="0" marL="0">
              <a:buNone/>
            </a:pPr>
            <a:r>
              <a:rPr lang="en-US" sz="1400" dirty="0">
                <a:solidFill>
                  <a:srgbClr val="363636"/>
                </a:solidFill>
              </a:rPr>
              <a:t>- ADO Pipelines: Included in existing Azure DevOps license</a:t>
            </a:r>
            <a:endParaRPr lang="en-US" sz="1400" dirty="0"/>
          </a:p>
          <a:p>
            <a:pPr indent="0" marL="0">
              <a:buNone/>
            </a:pPr>
            <a:r>
              <a:rPr lang="en-US" sz="1400" dirty="0">
                <a:solidFill>
                  <a:srgbClr val="363636"/>
                </a:solidFill>
              </a:rPr>
              <a:t>- No per-test licensing costs</a:t>
            </a:r>
            <a:endParaRPr lang="en-US" sz="1400" dirty="0"/>
          </a:p>
          <a:p>
            <a:pPr indent="0" marL="0">
              <a:buNone/>
            </a:pPr>
            <a:r>
              <a:rPr lang="en-US" sz="1400" dirty="0">
                <a:solidFill>
                  <a:srgbClr val="363636"/>
                </a:solidFill>
              </a:rPr>
              <a:t>3. **Reduced Manual Testing**</a:t>
            </a:r>
            <a:endParaRPr lang="en-US" sz="1400" dirty="0"/>
          </a:p>
          <a:p>
            <a:pPr indent="0" marL="0">
              <a:buNone/>
            </a:pPr>
            <a:r>
              <a:rPr lang="en-US" sz="1400" dirty="0">
                <a:solidFill>
                  <a:srgbClr val="363636"/>
                </a:solidFill>
              </a:rPr>
              <a:t>- Eliminate 3-4 weeks of QA time per platform upgrade</a:t>
            </a:r>
            <a:endParaRPr lang="en-US" sz="1400" dirty="0"/>
          </a:p>
          <a:p>
            <a:pPr indent="0" marL="0">
              <a:buNone/>
            </a:pPr>
            <a:r>
              <a:rPr lang="en-US" sz="1400" dirty="0">
                <a:solidFill>
                  <a:srgbClr val="363636"/>
                </a:solidFill>
              </a:rPr>
              <a:t>- Typical QA cost: $3,000–5,000/week × 3–4 weeks = $9,000–20,000</a:t>
            </a:r>
            <a:endParaRPr lang="en-US" sz="1400" dirty="0"/>
          </a:p>
          <a:p>
            <a:pPr indent="0" marL="0">
              <a:buNone/>
            </a:pPr>
            <a:r>
              <a:rPr lang="en-US" sz="1400" dirty="0">
                <a:solidFill>
                  <a:srgbClr val="363636"/>
                </a:solidFill>
              </a:rPr>
              <a:t>- Automation ROI: 1–2 platform upgrades pay for the entire framework</a:t>
            </a:r>
            <a:endParaRPr lang="en-US" sz="1400" dirty="0"/>
          </a:p>
          <a:p>
            <a:pPr indent="0" marL="0">
              <a:buNone/>
            </a:pPr>
            <a:r>
              <a:rPr lang="en-US" sz="1400" dirty="0">
                <a:solidFill>
                  <a:srgbClr val="363636"/>
                </a:solidFill>
              </a:rPr>
              <a:t>Comparison: Manual vs. Automated</a:t>
            </a:r>
            <a:endParaRPr lang="en-US" sz="1400" dirty="0"/>
          </a:p>
          <a:p>
            <a:pPr indent="0" marL="0">
              <a:buNone/>
            </a:pPr>
            <a:r>
              <a:rPr lang="en-US" sz="1400" dirty="0">
                <a:solidFill>
                  <a:srgbClr val="363636"/>
                </a:solidFill>
              </a:rPr>
              <a:t>| Task | Manual | Automated |</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 Platform Upgrade Regression | 3–4 weeks | 2–3 hours |</a:t>
            </a:r>
            <a:endParaRPr lang="en-US" sz="1400" dirty="0"/>
          </a:p>
          <a:p>
            <a:pPr indent="0" marL="0">
              <a:buNone/>
            </a:pPr>
            <a:r>
              <a:rPr lang="en-US" sz="1400" dirty="0">
                <a:solidFill>
                  <a:srgbClr val="363636"/>
                </a:solidFill>
              </a:rPr>
              <a:t>| Regression Test Creation | 40+ hours | 8–10 hours |</a:t>
            </a:r>
            <a:endParaRPr lang="en-US" sz="1400" dirty="0"/>
          </a:p>
          <a:p>
            <a:pPr indent="0" marL="0">
              <a:buNone/>
            </a:pPr>
            <a:r>
              <a:rPr lang="en-US" sz="1400" dirty="0">
                <a:solidFill>
                  <a:srgbClr val="363636"/>
                </a:solidFill>
              </a:rPr>
              <a:t>| Cost per Year | $50,000+ | ~$5,000 (dev only) |</a:t>
            </a:r>
            <a:endParaRPr lang="en-US" sz="1400" dirty="0"/>
          </a:p>
          <a:p>
            <a:pPr indent="0" marL="0">
              <a:buNone/>
            </a:pPr>
            <a:r>
              <a:rPr lang="en-US" sz="1400" dirty="0">
                <a:solidFill>
                  <a:srgbClr val="363636"/>
                </a:solidFill>
              </a:rPr>
              <a:t>| Risk of Missing Bugs | High | Low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12 — Risk &amp; Mitigation</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Potential Risks &amp; How We Address Them:</a:t>
            </a:r>
            <a:endParaRPr lang="en-US" sz="1400" dirty="0"/>
          </a:p>
          <a:p>
            <a:pPr indent="0" marL="0">
              <a:buNone/>
            </a:pPr>
            <a:r>
              <a:rPr lang="en-US" sz="1400" dirty="0">
                <a:solidFill>
                  <a:srgbClr val="363636"/>
                </a:solidFill>
              </a:rPr>
              <a:t>| Risk | Mitigation |</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 Tests become brittle (selectors break) | Use label/text-based selectors (stable across updates) |</a:t>
            </a:r>
            <a:endParaRPr lang="en-US" sz="1400" dirty="0"/>
          </a:p>
          <a:p>
            <a:pPr indent="0" marL="0">
              <a:buNone/>
            </a:pPr>
            <a:r>
              <a:rPr lang="en-US" sz="1400" dirty="0">
                <a:solidFill>
                  <a:srgbClr val="363636"/>
                </a:solidFill>
              </a:rPr>
              <a:t>| Tests slow down CI (take hours to run) | Parallel execution + selective test groups |</a:t>
            </a:r>
            <a:endParaRPr lang="en-US" sz="1400" dirty="0"/>
          </a:p>
          <a:p>
            <a:pPr indent="0" marL="0">
              <a:buNone/>
            </a:pPr>
            <a:r>
              <a:rPr lang="en-US" sz="1400" dirty="0">
                <a:solidFill>
                  <a:srgbClr val="363636"/>
                </a:solidFill>
              </a:rPr>
              <a:t>| Test maintenance burden | Centralized helpers + code reuse |</a:t>
            </a:r>
            <a:endParaRPr lang="en-US" sz="1400" dirty="0"/>
          </a:p>
          <a:p>
            <a:pPr indent="0" marL="0">
              <a:buNone/>
            </a:pPr>
            <a:r>
              <a:rPr lang="en-US" sz="1400" dirty="0">
                <a:solidFill>
                  <a:srgbClr val="363636"/>
                </a:solidFill>
              </a:rPr>
              <a:t>| MFA/Auth complexity in CI | Global setup with cached session + headless support |</a:t>
            </a:r>
            <a:endParaRPr lang="en-US" sz="1400" dirty="0"/>
          </a:p>
          <a:p>
            <a:pPr indent="0" marL="0">
              <a:buNone/>
            </a:pPr>
            <a:r>
              <a:rPr lang="en-US" sz="1400" dirty="0">
                <a:solidFill>
                  <a:srgbClr val="363636"/>
                </a:solidFill>
              </a:rPr>
              <a:t>| Test coverage gaps | Systematic conversion of ADO test plans |</a:t>
            </a:r>
            <a:endParaRPr lang="en-US" sz="1400" dirty="0"/>
          </a:p>
          <a:p>
            <a:pPr indent="0" marL="0">
              <a:buNone/>
            </a:pPr>
            <a:r>
              <a:rPr lang="en-US" sz="1400" dirty="0">
                <a:solidFill>
                  <a:srgbClr val="363636"/>
                </a:solidFill>
              </a:rPr>
              <a:t>| Knowledge silos | Shared patterns, documented code, accessible to team |</a:t>
            </a:r>
            <a:endParaRPr lang="en-US" sz="1400" dirty="0"/>
          </a:p>
          <a:p>
            <a:pPr indent="0" marL="0">
              <a:buNone/>
            </a:pPr>
            <a:r>
              <a:rPr lang="en-US" sz="1400" dirty="0">
                <a:solidFill>
                  <a:srgbClr val="363636"/>
                </a:solidFill>
              </a:rPr>
              <a:t>Quality Assurance:</a:t>
            </a:r>
            <a:endParaRPr lang="en-US" sz="1400" dirty="0"/>
          </a:p>
          <a:p>
            <a:pPr indent="0" marL="0">
              <a:buNone/>
            </a:pPr>
            <a:r>
              <a:rPr lang="en-US" sz="1400" dirty="0">
                <a:solidFill>
                  <a:srgbClr val="363636"/>
                </a:solidFill>
              </a:rPr>
              <a:t>- ✅ Code review process for all new tests</a:t>
            </a:r>
            <a:endParaRPr lang="en-US" sz="1400" dirty="0"/>
          </a:p>
          <a:p>
            <a:pPr indent="0" marL="0">
              <a:buNone/>
            </a:pPr>
            <a:r>
              <a:rPr lang="en-US" sz="1400" dirty="0">
                <a:solidFill>
                  <a:srgbClr val="363636"/>
                </a:solidFill>
              </a:rPr>
              <a:t>- ✅ Tests written in TypeScript (type safety)</a:t>
            </a:r>
            <a:endParaRPr lang="en-US" sz="1400" dirty="0"/>
          </a:p>
          <a:p>
            <a:pPr indent="0" marL="0">
              <a:buNone/>
            </a:pPr>
            <a:r>
              <a:rPr lang="en-US" sz="1400" dirty="0">
                <a:solidFill>
                  <a:srgbClr val="363636"/>
                </a:solidFill>
              </a:rPr>
              <a:t>- ✅ Helpers tested independently before use</a:t>
            </a:r>
            <a:endParaRPr lang="en-US" sz="1400" dirty="0"/>
          </a:p>
          <a:p>
            <a:pPr indent="0" marL="0">
              <a:buNone/>
            </a:pPr>
            <a:r>
              <a:rPr lang="en-US" sz="1400" dirty="0">
                <a:solidFill>
                  <a:srgbClr val="363636"/>
                </a:solidFill>
              </a:rPr>
              <a:t>- ✅ HTML reports with screenshots on failure (debugging aid)</a:t>
            </a:r>
            <a:endParaRPr lang="en-US" sz="1400" dirty="0"/>
          </a:p>
          <a:p>
            <a:pPr indent="0" marL="0">
              <a:buNone/>
            </a:pPr>
            <a:r>
              <a:rPr lang="en-US" sz="1400" dirty="0">
                <a:solidFill>
                  <a:srgbClr val="363636"/>
                </a:solidFill>
              </a:rPr>
              <a:t>- ✅ Scheduled regression runs to catch drift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14 — Key Metrics &amp; Success Criteria</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How We Measure Success:</a:t>
            </a:r>
            <a:endParaRPr lang="en-US" sz="1400" dirty="0"/>
          </a:p>
          <a:p>
            <a:pPr indent="0" marL="0">
              <a:buNone/>
            </a:pPr>
            <a:r>
              <a:rPr lang="en-US" sz="1400" dirty="0">
                <a:solidFill>
                  <a:srgbClr val="363636"/>
                </a:solidFill>
              </a:rPr>
              <a:t>| Metric | Target | Baseline |</a:t>
            </a:r>
            <a:endParaRPr lang="en-US" sz="1400" dirty="0"/>
          </a:p>
          <a:p>
            <a:pPr indent="0" marL="0">
              <a:buNone/>
            </a:pPr>
            <a:r>
              <a:rPr lang="en-US" sz="1400" dirty="0">
                <a:solidFill>
                  <a:srgbClr val="363636"/>
                </a:solidFill>
              </a:rPr>
              <a:t>|--------|--------|----------|</a:t>
            </a:r>
            <a:endParaRPr lang="en-US" sz="1400" dirty="0"/>
          </a:p>
          <a:p>
            <a:pPr indent="0" marL="0">
              <a:buNone/>
            </a:pPr>
            <a:r>
              <a:rPr lang="en-US" sz="1400" dirty="0">
                <a:solidFill>
                  <a:srgbClr val="363636"/>
                </a:solidFill>
              </a:rPr>
              <a:t>| Test Execution Time (per run) | &lt;2 hours | N/A (new) |</a:t>
            </a:r>
            <a:endParaRPr lang="en-US" sz="1400" dirty="0"/>
          </a:p>
          <a:p>
            <a:pPr indent="0" marL="0">
              <a:buNone/>
            </a:pPr>
            <a:r>
              <a:rPr lang="en-US" sz="1400" dirty="0">
                <a:solidFill>
                  <a:srgbClr val="363636"/>
                </a:solidFill>
              </a:rPr>
              <a:t>| Test Flakiness (false positives) | &lt;1% | N/A (new) |</a:t>
            </a:r>
            <a:endParaRPr lang="en-US" sz="1400" dirty="0"/>
          </a:p>
          <a:p>
            <a:pPr indent="0" marL="0">
              <a:buNone/>
            </a:pPr>
            <a:r>
              <a:rPr lang="en-US" sz="1400" dirty="0">
                <a:solidFill>
                  <a:srgbClr val="363636"/>
                </a:solidFill>
              </a:rPr>
              <a:t>| ADO Test Plan Conversion Rate | 80+ tests/month | 0 (starting now) |</a:t>
            </a:r>
            <a:endParaRPr lang="en-US" sz="1400" dirty="0"/>
          </a:p>
          <a:p>
            <a:pPr indent="0" marL="0">
              <a:buNone/>
            </a:pPr>
            <a:r>
              <a:rPr lang="en-US" sz="1400" dirty="0">
                <a:solidFill>
                  <a:srgbClr val="363636"/>
                </a:solidFill>
              </a:rPr>
              <a:t>| Platform Upgrade Duration (incl. testing) | 2–3 weeks | 4–6 weeks |</a:t>
            </a:r>
            <a:endParaRPr lang="en-US" sz="1400" dirty="0"/>
          </a:p>
          <a:p>
            <a:pPr indent="0" marL="0">
              <a:buNone/>
            </a:pPr>
            <a:r>
              <a:rPr lang="en-US" sz="1400" dirty="0">
                <a:solidFill>
                  <a:srgbClr val="363636"/>
                </a:solidFill>
              </a:rPr>
              <a:t>| QA Regression Cycle | 1–2 weeks | 3–4 weeks |</a:t>
            </a:r>
            <a:endParaRPr lang="en-US" sz="1400" dirty="0"/>
          </a:p>
          <a:p>
            <a:pPr indent="0" marL="0">
              <a:buNone/>
            </a:pPr>
            <a:r>
              <a:rPr lang="en-US" sz="1400" dirty="0">
                <a:solidFill>
                  <a:srgbClr val="363636"/>
                </a:solidFill>
              </a:rPr>
              <a:t>| Bug Escape Rate (to production) | -50% | Baseline |</a:t>
            </a:r>
            <a:endParaRPr lang="en-US" sz="1400" dirty="0"/>
          </a:p>
          <a:p>
            <a:pPr indent="0" marL="0">
              <a:buNone/>
            </a:pPr>
            <a:r>
              <a:rPr lang="en-US" sz="1400" dirty="0">
                <a:solidFill>
                  <a:srgbClr val="363636"/>
                </a:solidFill>
              </a:rPr>
              <a:t>| Team Satisfaction (survey) | 4/5 | TBD |</a:t>
            </a:r>
            <a:endParaRPr lang="en-US" sz="1400" dirty="0"/>
          </a:p>
          <a:p>
            <a:pPr indent="0" marL="0">
              <a:buNone/>
            </a:pPr>
            <a:r>
              <a:rPr lang="en-US" sz="1400" dirty="0">
                <a:solidFill>
                  <a:srgbClr val="363636"/>
                </a:solidFill>
              </a:rPr>
              <a:t>Expected Benefits:</a:t>
            </a:r>
            <a:endParaRPr lang="en-US" sz="1400" dirty="0"/>
          </a:p>
          <a:p>
            <a:pPr indent="0" marL="0">
              <a:buNone/>
            </a:pPr>
            <a:r>
              <a:rPr lang="en-US" sz="1400" dirty="0">
                <a:solidFill>
                  <a:srgbClr val="363636"/>
                </a:solidFill>
              </a:rPr>
              <a:t>- 🚀 **Velocity**: Faster feature delivery (testing no longer a bottleneck)</a:t>
            </a:r>
            <a:endParaRPr lang="en-US" sz="1400" dirty="0"/>
          </a:p>
          <a:p>
            <a:pPr indent="0" marL="0">
              <a:buNone/>
            </a:pPr>
            <a:r>
              <a:rPr lang="en-US" sz="1400" dirty="0">
                <a:solidFill>
                  <a:srgbClr val="363636"/>
                </a:solidFill>
              </a:rPr>
              <a:t>- 💰 **Cost**: Save $50K+/year on manual QA effort</a:t>
            </a:r>
            <a:endParaRPr lang="en-US" sz="1400" dirty="0"/>
          </a:p>
          <a:p>
            <a:pPr indent="0" marL="0">
              <a:buNone/>
            </a:pPr>
            <a:r>
              <a:rPr lang="en-US" sz="1400" dirty="0">
                <a:solidFill>
                  <a:srgbClr val="363636"/>
                </a:solidFill>
              </a:rPr>
              <a:t>- 🛡️ **Quality**: Catch bugs earlier, reduce production incidents</a:t>
            </a:r>
            <a:endParaRPr lang="en-US" sz="1400" dirty="0"/>
          </a:p>
          <a:p>
            <a:pPr indent="0" marL="0">
              <a:buNone/>
            </a:pPr>
            <a:r>
              <a:rPr lang="en-US" sz="1400" dirty="0">
                <a:solidFill>
                  <a:srgbClr val="363636"/>
                </a:solidFill>
              </a:rPr>
              <a:t>- 😊 **Satisfaction**: QA team freed up for exploratory/creative testing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13 — Roadmap &amp; Implementation</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Phase 1: Foundation (Weeks 1–4)</a:t>
            </a:r>
            <a:endParaRPr lang="en-US" sz="1400" dirty="0"/>
          </a:p>
          <a:p>
            <a:pPr indent="0" marL="0">
              <a:buNone/>
            </a:pPr>
            <a:r>
              <a:rPr lang="en-US" sz="1400" dirty="0">
                <a:solidFill>
                  <a:srgbClr val="363636"/>
                </a:solidFill>
              </a:rPr>
              <a:t>- ✅ Establish core framework patterns</a:t>
            </a:r>
            <a:endParaRPr lang="en-US" sz="1400" dirty="0"/>
          </a:p>
          <a:p>
            <a:pPr indent="0" marL="0">
              <a:buNone/>
            </a:pPr>
            <a:r>
              <a:rPr lang="en-US" sz="1400" dirty="0">
                <a:solidFill>
                  <a:srgbClr val="363636"/>
                </a:solidFill>
              </a:rPr>
              <a:t>- ✅ Create helper library for D365</a:t>
            </a:r>
            <a:endParaRPr lang="en-US" sz="1400" dirty="0"/>
          </a:p>
          <a:p>
            <a:pPr indent="0" marL="0">
              <a:buNone/>
            </a:pPr>
            <a:r>
              <a:rPr lang="en-US" sz="1400" dirty="0">
                <a:solidFill>
                  <a:srgbClr val="363636"/>
                </a:solidFill>
              </a:rPr>
              <a:t>- ✅ Set up ADO pipeline integration</a:t>
            </a:r>
            <a:endParaRPr lang="en-US" sz="1400" dirty="0"/>
          </a:p>
          <a:p>
            <a:pPr indent="0" marL="0">
              <a:buNone/>
            </a:pPr>
            <a:r>
              <a:rPr lang="en-US" sz="1400" dirty="0">
                <a:solidFill>
                  <a:srgbClr val="363636"/>
                </a:solidFill>
              </a:rPr>
              <a:t>- ✅ Document conversion process</a:t>
            </a:r>
            <a:endParaRPr lang="en-US" sz="1400" dirty="0"/>
          </a:p>
          <a:p>
            <a:pPr indent="0" marL="0">
              <a:buNone/>
            </a:pPr>
            <a:r>
              <a:rPr lang="en-US" sz="1400" dirty="0">
                <a:solidFill>
                  <a:srgbClr val="363636"/>
                </a:solidFill>
              </a:rPr>
              <a:t>Phase 2: Scale (Months 2–3)</a:t>
            </a:r>
            <a:endParaRPr lang="en-US" sz="1400" dirty="0"/>
          </a:p>
          <a:p>
            <a:pPr indent="0" marL="0">
              <a:buNone/>
            </a:pPr>
            <a:r>
              <a:rPr lang="en-US" sz="1400" dirty="0">
                <a:solidFill>
                  <a:srgbClr val="363636"/>
                </a:solidFill>
              </a:rPr>
              <a:t>- Convert 50+ ADO test cases</a:t>
            </a:r>
            <a:endParaRPr lang="en-US" sz="1400" dirty="0"/>
          </a:p>
          <a:p>
            <a:pPr indent="0" marL="0">
              <a:buNone/>
            </a:pPr>
            <a:r>
              <a:rPr lang="en-US" sz="1400" dirty="0">
                <a:solidFill>
                  <a:srgbClr val="363636"/>
                </a:solidFill>
              </a:rPr>
              <a:t>- Build URL glossary for common D365 workflows</a:t>
            </a:r>
            <a:endParaRPr lang="en-US" sz="1400" dirty="0"/>
          </a:p>
          <a:p>
            <a:pPr indent="0" marL="0">
              <a:buNone/>
            </a:pPr>
            <a:r>
              <a:rPr lang="en-US" sz="1400" dirty="0">
                <a:solidFill>
                  <a:srgbClr val="363636"/>
                </a:solidFill>
              </a:rPr>
              <a:t>- Train team on Playwright + framework patterns</a:t>
            </a:r>
            <a:endParaRPr lang="en-US" sz="1400" dirty="0"/>
          </a:p>
          <a:p>
            <a:pPr indent="0" marL="0">
              <a:buNone/>
            </a:pPr>
            <a:r>
              <a:rPr lang="en-US" sz="1400" dirty="0">
                <a:solidFill>
                  <a:srgbClr val="363636"/>
                </a:solidFill>
              </a:rPr>
              <a:t>- Run first platform upgrade with automated regression</a:t>
            </a:r>
            <a:endParaRPr lang="en-US" sz="1400" dirty="0"/>
          </a:p>
          <a:p>
            <a:pPr indent="0" marL="0">
              <a:buNone/>
            </a:pPr>
            <a:r>
              <a:rPr lang="en-US" sz="1400" dirty="0">
                <a:solidFill>
                  <a:srgbClr val="363636"/>
                </a:solidFill>
              </a:rPr>
              <a:t>Phase 3: Mature (Months 4–6)</a:t>
            </a:r>
            <a:endParaRPr lang="en-US" sz="1400" dirty="0"/>
          </a:p>
          <a:p>
            <a:pPr indent="0" marL="0">
              <a:buNone/>
            </a:pPr>
            <a:r>
              <a:rPr lang="en-US" sz="1400" dirty="0">
                <a:solidFill>
                  <a:srgbClr val="363636"/>
                </a:solidFill>
              </a:rPr>
              <a:t>- Expand to 200+ tests</a:t>
            </a:r>
            <a:endParaRPr lang="en-US" sz="1400" dirty="0"/>
          </a:p>
          <a:p>
            <a:pPr indent="0" marL="0">
              <a:buNone/>
            </a:pPr>
            <a:r>
              <a:rPr lang="en-US" sz="1400" dirty="0">
                <a:solidFill>
                  <a:srgbClr val="363636"/>
                </a:solidFill>
              </a:rPr>
              <a:t>- Implement TDD/BDD workflows</a:t>
            </a:r>
            <a:endParaRPr lang="en-US" sz="1400" dirty="0"/>
          </a:p>
          <a:p>
            <a:pPr indent="0" marL="0">
              <a:buNone/>
            </a:pPr>
            <a:r>
              <a:rPr lang="en-US" sz="1400" dirty="0">
                <a:solidFill>
                  <a:srgbClr val="363636"/>
                </a:solidFill>
              </a:rPr>
              <a:t>- Integrate with release management (automatic regression gates)</a:t>
            </a:r>
            <a:endParaRPr lang="en-US" sz="1400" dirty="0"/>
          </a:p>
          <a:p>
            <a:pPr indent="0" marL="0">
              <a:buNone/>
            </a:pPr>
            <a:r>
              <a:rPr lang="en-US" sz="1400" dirty="0">
                <a:solidFill>
                  <a:srgbClr val="363636"/>
                </a:solidFill>
              </a:rPr>
              <a:t>- Enable business users to write UAT tests</a:t>
            </a:r>
            <a:endParaRPr lang="en-US" sz="1400" dirty="0"/>
          </a:p>
          <a:p>
            <a:pPr indent="0" marL="0">
              <a:buNone/>
            </a:pPr>
            <a:r>
              <a:rPr lang="en-US" sz="1400" dirty="0">
                <a:solidFill>
                  <a:srgbClr val="363636"/>
                </a:solidFill>
              </a:rPr>
              <a:t>Phase 4: Optimize (Ongoing)</a:t>
            </a:r>
            <a:endParaRPr lang="en-US" sz="1400" dirty="0"/>
          </a:p>
          <a:p>
            <a:pPr indent="0" marL="0">
              <a:buNone/>
            </a:pPr>
            <a:r>
              <a:rPr lang="en-US" sz="1400" dirty="0">
                <a:solidFill>
                  <a:srgbClr val="363636"/>
                </a:solidFill>
              </a:rPr>
              <a:t>- Continuous test expansion</a:t>
            </a:r>
            <a:endParaRPr lang="en-US" sz="1400" dirty="0"/>
          </a:p>
          <a:p>
            <a:pPr indent="0" marL="0">
              <a:buNone/>
            </a:pPr>
            <a:r>
              <a:rPr lang="en-US" sz="1400" dirty="0">
                <a:solidFill>
                  <a:srgbClr val="363636"/>
                </a:solidFill>
              </a:rPr>
              <a:t>- Performance tuning (parallel execution, caching)</a:t>
            </a:r>
            <a:endParaRPr lang="en-US" sz="1400" dirty="0"/>
          </a:p>
          <a:p>
            <a:pPr indent="0" marL="0">
              <a:buNone/>
            </a:pPr>
            <a:r>
              <a:rPr lang="en-US" sz="1400" dirty="0">
                <a:solidFill>
                  <a:srgbClr val="363636"/>
                </a:solidFill>
              </a:rPr>
              <a:t>- Advanced scenarios (multi-environment testing, data-driven tests)</a:t>
            </a:r>
            <a:endParaRPr lang="en-US" sz="1400" dirty="0"/>
          </a:p>
          <a:p>
            <a:pPr indent="0" marL="0">
              <a:buNone/>
            </a:pPr>
            <a:r>
              <a:rPr lang="en-US" sz="1400" dirty="0">
                <a:solidFill>
                  <a:srgbClr val="363636"/>
                </a:solidFill>
              </a:rPr>
              <a:t>- Cost monitoring and optimization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15 — Call to Action</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What We Need:</a:t>
            </a:r>
            <a:endParaRPr lang="en-US" sz="1400" dirty="0"/>
          </a:p>
          <a:p>
            <a:pPr indent="0" marL="0">
              <a:buNone/>
            </a:pPr>
            <a:r>
              <a:rPr lang="en-US" sz="1400" dirty="0">
                <a:solidFill>
                  <a:srgbClr val="363636"/>
                </a:solidFill>
              </a:rPr>
              <a:t>1. **Stakeholder Buy-In**</a:t>
            </a:r>
            <a:endParaRPr lang="en-US" sz="1400" dirty="0"/>
          </a:p>
          <a:p>
            <a:pPr indent="0" marL="0">
              <a:buNone/>
            </a:pPr>
            <a:r>
              <a:rPr lang="en-US" sz="1400" dirty="0">
                <a:solidFill>
                  <a:srgbClr val="363636"/>
                </a:solidFill>
              </a:rPr>
              <a:t>- Agree that automation is a priority</a:t>
            </a:r>
            <a:endParaRPr lang="en-US" sz="1400" dirty="0"/>
          </a:p>
          <a:p>
            <a:pPr indent="0" marL="0">
              <a:buNone/>
            </a:pPr>
            <a:r>
              <a:rPr lang="en-US" sz="1400" dirty="0">
                <a:solidFill>
                  <a:srgbClr val="363636"/>
                </a:solidFill>
              </a:rPr>
              <a:t>- Commit to a 6-month roadmap</a:t>
            </a:r>
            <a:endParaRPr lang="en-US" sz="1400" dirty="0"/>
          </a:p>
          <a:p>
            <a:pPr indent="0" marL="0">
              <a:buNone/>
            </a:pPr>
            <a:r>
              <a:rPr lang="en-US" sz="1400" dirty="0">
                <a:solidFill>
                  <a:srgbClr val="363636"/>
                </a:solidFill>
              </a:rPr>
              <a:t>2. **Resource Allocation**</a:t>
            </a:r>
            <a:endParaRPr lang="en-US" sz="1400" dirty="0"/>
          </a:p>
          <a:p>
            <a:pPr indent="0" marL="0">
              <a:buNone/>
            </a:pPr>
            <a:r>
              <a:rPr lang="en-US" sz="1400" dirty="0">
                <a:solidFill>
                  <a:srgbClr val="363636"/>
                </a:solidFill>
              </a:rPr>
              <a:t>- 1–2 developers to build and maintain framework (Phases 1–2)</a:t>
            </a:r>
            <a:endParaRPr lang="en-US" sz="1400" dirty="0"/>
          </a:p>
          <a:p>
            <a:pPr indent="0" marL="0">
              <a:buNone/>
            </a:pPr>
            <a:r>
              <a:rPr lang="en-US" sz="1400" dirty="0">
                <a:solidFill>
                  <a:srgbClr val="363636"/>
                </a:solidFill>
              </a:rPr>
              <a:t>- QA support for test case conversion and validation</a:t>
            </a:r>
            <a:endParaRPr lang="en-US" sz="1400" dirty="0"/>
          </a:p>
          <a:p>
            <a:pPr indent="0" marL="0">
              <a:buNone/>
            </a:pPr>
            <a:r>
              <a:rPr lang="en-US" sz="1400" dirty="0">
                <a:solidFill>
                  <a:srgbClr val="363636"/>
                </a:solidFill>
              </a:rPr>
              <a:t>3. **Tool Availability**</a:t>
            </a:r>
            <a:endParaRPr lang="en-US" sz="1400" dirty="0"/>
          </a:p>
          <a:p>
            <a:pPr indent="0" marL="0">
              <a:buNone/>
            </a:pPr>
            <a:r>
              <a:rPr lang="en-US" sz="1400" dirty="0">
                <a:solidFill>
                  <a:srgbClr val="363636"/>
                </a:solidFill>
              </a:rPr>
              <a:t>- Node.js 18+ (free, available everywhere)</a:t>
            </a:r>
            <a:endParaRPr lang="en-US" sz="1400" dirty="0"/>
          </a:p>
          <a:p>
            <a:pPr indent="0" marL="0">
              <a:buNone/>
            </a:pPr>
            <a:r>
              <a:rPr lang="en-US" sz="1400" dirty="0">
                <a:solidFill>
                  <a:srgbClr val="363636"/>
                </a:solidFill>
              </a:rPr>
              <a:t>- Azure DevOps (you already have)</a:t>
            </a:r>
            <a:endParaRPr lang="en-US" sz="1400" dirty="0"/>
          </a:p>
          <a:p>
            <a:pPr indent="0" marL="0">
              <a:buNone/>
            </a:pPr>
            <a:r>
              <a:rPr lang="en-US" sz="1400" dirty="0">
                <a:solidFill>
                  <a:srgbClr val="363636"/>
                </a:solidFill>
              </a:rPr>
              <a:t>- Access to D365 test instances</a:t>
            </a:r>
            <a:endParaRPr lang="en-US" sz="1400" dirty="0"/>
          </a:p>
          <a:p>
            <a:pPr indent="0" marL="0">
              <a:buNone/>
            </a:pPr>
            <a:r>
              <a:rPr lang="en-US" sz="1400" dirty="0">
                <a:solidFill>
                  <a:srgbClr val="363636"/>
                </a:solidFill>
              </a:rPr>
              <a:t>4. **Organizational Support**</a:t>
            </a:r>
            <a:endParaRPr lang="en-US" sz="1400" dirty="0"/>
          </a:p>
          <a:p>
            <a:pPr indent="0" marL="0">
              <a:buNone/>
            </a:pPr>
            <a:r>
              <a:rPr lang="en-US" sz="1400" dirty="0">
                <a:solidFill>
                  <a:srgbClr val="363636"/>
                </a:solidFill>
              </a:rPr>
              <a:t>- Communicate benefits to QA team</a:t>
            </a:r>
            <a:endParaRPr lang="en-US" sz="1400" dirty="0"/>
          </a:p>
          <a:p>
            <a:pPr indent="0" marL="0">
              <a:buNone/>
            </a:pPr>
            <a:r>
              <a:rPr lang="en-US" sz="1400" dirty="0">
                <a:solidFill>
                  <a:srgbClr val="363636"/>
                </a:solidFill>
              </a:rPr>
              <a:t>- Establish testing standards and conventions</a:t>
            </a:r>
            <a:endParaRPr lang="en-US" sz="1400" dirty="0"/>
          </a:p>
          <a:p>
            <a:pPr indent="0" marL="0">
              <a:buNone/>
            </a:pPr>
            <a:r>
              <a:rPr lang="en-US" sz="1400" dirty="0">
                <a:solidFill>
                  <a:srgbClr val="363636"/>
                </a:solidFill>
              </a:rPr>
              <a:t>- Foster a testing culture</a:t>
            </a:r>
            <a:endParaRPr lang="en-US" sz="1400" dirty="0"/>
          </a:p>
          <a:p>
            <a:pPr indent="0" marL="0">
              <a:buNone/>
            </a:pPr>
            <a:r>
              <a:rPr lang="en-US" sz="1400" dirty="0">
                <a:solidFill>
                  <a:srgbClr val="363636"/>
                </a:solidFill>
              </a:rPr>
              <a:t>Next Steps (Immediate):</a:t>
            </a:r>
            <a:endParaRPr lang="en-US" sz="1400" dirty="0"/>
          </a:p>
          <a:p>
            <a:pPr indent="0" marL="0">
              <a:buNone/>
            </a:pPr>
            <a:r>
              <a:rPr lang="en-US" sz="1400" dirty="0">
                <a:solidFill>
                  <a:srgbClr val="363636"/>
                </a:solidFill>
              </a:rPr>
              <a:t>- [ ] Approve framework adoption (this week)</a:t>
            </a:r>
            <a:endParaRPr lang="en-US" sz="1400" dirty="0"/>
          </a:p>
          <a:p>
            <a:pPr indent="0" marL="0">
              <a:buNone/>
            </a:pPr>
            <a:r>
              <a:rPr lang="en-US" sz="1400" dirty="0">
                <a:solidFill>
                  <a:srgbClr val="363636"/>
                </a:solidFill>
              </a:rPr>
              <a:t>- [ ] Allocate dev/QA resources (within 2 weeks)</a:t>
            </a:r>
            <a:endParaRPr lang="en-US" sz="1400" dirty="0"/>
          </a:p>
          <a:p>
            <a:pPr indent="0" marL="0">
              <a:buNone/>
            </a:pPr>
            <a:r>
              <a:rPr lang="en-US" sz="1400" dirty="0">
                <a:solidFill>
                  <a:srgbClr val="363636"/>
                </a:solidFill>
              </a:rPr>
              <a:t>- [ ] Kick off Phase 1: Foundation (starting next sprint)</a:t>
            </a:r>
            <a:endParaRPr lang="en-US" sz="1400" dirty="0"/>
          </a:p>
          <a:p>
            <a:pPr indent="0" marL="0">
              <a:buNone/>
            </a:pPr>
            <a:r>
              <a:rPr lang="en-US" sz="1400" dirty="0">
                <a:solidFill>
                  <a:srgbClr val="363636"/>
                </a:solidFill>
              </a:rPr>
              <a:t>- [ ] Schedule checkpoint reviews (monthly)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16 — Questions &amp; Discussion</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Let's Talk About:</a:t>
            </a:r>
            <a:endParaRPr lang="en-US" sz="1400" dirty="0"/>
          </a:p>
          <a:p>
            <a:pPr indent="0" marL="0">
              <a:buNone/>
            </a:pPr>
            <a:r>
              <a:rPr lang="en-US" sz="1400" dirty="0">
                <a:solidFill>
                  <a:srgbClr val="363636"/>
                </a:solidFill>
              </a:rPr>
              <a:t>- How this framework fits your testing strategy</a:t>
            </a:r>
            <a:endParaRPr lang="en-US" sz="1400" dirty="0"/>
          </a:p>
          <a:p>
            <a:pPr indent="0" marL="0">
              <a:buNone/>
            </a:pPr>
            <a:r>
              <a:rPr lang="en-US" sz="1400" dirty="0">
                <a:solidFill>
                  <a:srgbClr val="363636"/>
                </a:solidFill>
              </a:rPr>
              <a:t>- Timeline and resource requirements</a:t>
            </a:r>
            <a:endParaRPr lang="en-US" sz="1400" dirty="0"/>
          </a:p>
          <a:p>
            <a:pPr indent="0" marL="0">
              <a:buNone/>
            </a:pPr>
            <a:r>
              <a:rPr lang="en-US" sz="1400" dirty="0">
                <a:solidFill>
                  <a:srgbClr val="363636"/>
                </a:solidFill>
              </a:rPr>
              <a:t>- Integration with your current ADO workflows</a:t>
            </a:r>
            <a:endParaRPr lang="en-US" sz="1400" dirty="0"/>
          </a:p>
          <a:p>
            <a:pPr indent="0" marL="0">
              <a:buNone/>
            </a:pPr>
            <a:r>
              <a:rPr lang="en-US" sz="1400" dirty="0">
                <a:solidFill>
                  <a:srgbClr val="363636"/>
                </a:solidFill>
              </a:rPr>
              <a:t>- Platform upgrade readiness</a:t>
            </a:r>
            <a:endParaRPr lang="en-US" sz="1400" dirty="0"/>
          </a:p>
          <a:p>
            <a:pPr indent="0" marL="0">
              <a:buNone/>
            </a:pPr>
            <a:r>
              <a:rPr lang="en-US" sz="1400" dirty="0">
                <a:solidFill>
                  <a:srgbClr val="363636"/>
                </a:solidFill>
              </a:rPr>
              <a:t>- Training and team enablement</a:t>
            </a:r>
            <a:endParaRPr lang="en-US" sz="1400" dirty="0"/>
          </a:p>
          <a:p>
            <a:pPr indent="0" marL="0">
              <a:buNone/>
            </a:pPr>
            <a:r>
              <a:rPr lang="en-US" sz="1400" dirty="0">
                <a:solidFill>
                  <a:srgbClr val="363636"/>
                </a:solidFill>
              </a:rPr>
              <a:t>- Budget and cost justification</a:t>
            </a:r>
            <a:endParaRPr lang="en-US" sz="1400" dirty="0"/>
          </a:p>
          <a:p>
            <a:pPr indent="0" marL="0">
              <a:buNone/>
            </a:pPr>
            <a:r>
              <a:rPr lang="en-US" sz="1400" dirty="0">
                <a:solidFill>
                  <a:srgbClr val="363636"/>
                </a:solidFill>
              </a:rPr>
              <a:t>We're Here to Answer:</a:t>
            </a:r>
            <a:endParaRPr lang="en-US" sz="1400" dirty="0"/>
          </a:p>
          <a:p>
            <a:pPr indent="0" marL="0">
              <a:buNone/>
            </a:pPr>
            <a:r>
              <a:rPr lang="en-US" sz="1400" dirty="0">
                <a:solidFill>
                  <a:srgbClr val="363636"/>
                </a:solidFill>
              </a:rPr>
              <a:t>- "How do we get started?"</a:t>
            </a:r>
            <a:endParaRPr lang="en-US" sz="1400" dirty="0"/>
          </a:p>
          <a:p>
            <a:pPr indent="0" marL="0">
              <a:buNone/>
            </a:pPr>
            <a:r>
              <a:rPr lang="en-US" sz="1400" dirty="0">
                <a:solidFill>
                  <a:srgbClr val="363636"/>
                </a:solidFill>
              </a:rPr>
              <a:t>- "What's the true cost?"</a:t>
            </a:r>
            <a:endParaRPr lang="en-US" sz="1400" dirty="0"/>
          </a:p>
          <a:p>
            <a:pPr indent="0" marL="0">
              <a:buNone/>
            </a:pPr>
            <a:r>
              <a:rPr lang="en-US" sz="1400" dirty="0">
                <a:solidFill>
                  <a:srgbClr val="363636"/>
                </a:solidFill>
              </a:rPr>
              <a:t>- "How long will it take to see ROI?"</a:t>
            </a:r>
            <a:endParaRPr lang="en-US" sz="1400" dirty="0"/>
          </a:p>
          <a:p>
            <a:pPr indent="0" marL="0">
              <a:buNone/>
            </a:pPr>
            <a:r>
              <a:rPr lang="en-US" sz="1400" dirty="0">
                <a:solidFill>
                  <a:srgbClr val="363636"/>
                </a:solidFill>
              </a:rPr>
              <a:t>- "What if something goes wrong?"</a:t>
            </a:r>
            <a:endParaRPr lang="en-US" sz="1400" dirty="0"/>
          </a:p>
          <a:p>
            <a:pPr indent="0" marL="0">
              <a:buNone/>
            </a:pPr>
            <a:r>
              <a:rPr lang="en-US" sz="1400" dirty="0">
                <a:solidFill>
                  <a:srgbClr val="363636"/>
                </a:solidFill>
              </a:rPr>
              <a:t>- "Can non-developers write tests?"</a:t>
            </a:r>
            <a:endParaRPr lang="en-US" sz="1400" dirty="0"/>
          </a:p>
          <a:p>
            <a:pPr indent="0" marL="0">
              <a:buNone/>
            </a:pPr>
            <a:r>
              <a:rPr lang="en-US" sz="1400" dirty="0">
                <a:solidFill>
                  <a:srgbClr val="363636"/>
                </a:solidFill>
              </a:rPr>
              <a:t>Your Feedback Matters.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Slide 17 — Thank You</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D365 F&amp;O Playwright Testing Framework</a:t>
            </a:r>
            <a:endParaRPr lang="en-US" sz="1400" dirty="0"/>
          </a:p>
          <a:p>
            <a:pPr indent="0" marL="0">
              <a:buNone/>
            </a:pPr>
            <a:r>
              <a:rPr lang="en-US" sz="1400" dirty="0">
                <a:solidFill>
                  <a:srgbClr val="363636"/>
                </a:solidFill>
              </a:rPr>
              <a:t>**Transform Your Testing. Accelerate Your Delivery.**</a:t>
            </a:r>
            <a:endParaRPr lang="en-US" sz="1400" dirty="0"/>
          </a:p>
          <a:p>
            <a:pPr indent="0" marL="0">
              <a:buNone/>
            </a:pPr>
            <a:r>
              <a:rPr lang="en-US" sz="1400" dirty="0">
                <a:solidFill>
                  <a:srgbClr val="363636"/>
                </a:solidFill>
              </a:rPr>
              <a:t>Contact &amp; Resources:</a:t>
            </a:r>
            <a:endParaRPr lang="en-US" sz="1400" dirty="0"/>
          </a:p>
          <a:p>
            <a:pPr indent="0" marL="0">
              <a:buNone/>
            </a:pPr>
            <a:r>
              <a:rPr lang="en-US" sz="1400" dirty="0">
                <a:solidFill>
                  <a:srgbClr val="363636"/>
                </a:solidFill>
              </a:rPr>
              <a:t>- Framework Repo: [your git repo]</a:t>
            </a:r>
            <a:endParaRPr lang="en-US" sz="1400" dirty="0"/>
          </a:p>
          <a:p>
            <a:pPr indent="0" marL="0">
              <a:buNone/>
            </a:pPr>
            <a:r>
              <a:rPr lang="en-US" sz="1400" dirty="0">
                <a:solidFill>
                  <a:srgbClr val="363636"/>
                </a:solidFill>
              </a:rPr>
              <a:t>- Documentation: README.md, docs/ folder</a:t>
            </a:r>
            <a:endParaRPr lang="en-US" sz="1400" dirty="0"/>
          </a:p>
          <a:p>
            <a:pPr indent="0" marL="0">
              <a:buNone/>
            </a:pPr>
            <a:r>
              <a:rPr lang="en-US" sz="1400" dirty="0">
                <a:solidFill>
                  <a:srgbClr val="363636"/>
                </a:solidFill>
              </a:rPr>
              <a:t>- URL Glossary: docs/D365_URL_GLOSSARY.md</a:t>
            </a:r>
            <a:endParaRPr lang="en-US" sz="1400" dirty="0"/>
          </a:p>
          <a:p>
            <a:pPr indent="0" marL="0">
              <a:buNone/>
            </a:pPr>
            <a:r>
              <a:rPr lang="en-US" sz="1400" dirty="0">
                <a:solidFill>
                  <a:srgbClr val="363636"/>
                </a:solidFill>
              </a:rPr>
              <a:t>- Contact: [your team/email]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28600"/>
            <a:ext cx="6858000" cy="0"/>
          </a:xfrm>
          <a:prstGeom prst="rect">
            <a:avLst/>
          </a:prstGeom>
          <a:noFill/>
          <a:ln/>
        </p:spPr>
        <p:txBody>
          <a:bodyPr wrap="square" rtlCol="0" anchor="ctr"/>
          <a:lstStyle/>
          <a:p>
            <a:pPr indent="0" marL="0">
              <a:buNone/>
            </a:pPr>
            <a:r>
              <a:rPr lang="en-US" sz="2600" b="1" dirty="0">
                <a:solidFill>
                  <a:srgbClr val="2E74B5"/>
                </a:solidFill>
              </a:rPr>
              <a:t>End of deck</a:t>
            </a:r>
            <a:endParaRPr lang="en-US" sz="2600" dirty="0"/>
          </a:p>
        </p:txBody>
      </p:sp>
      <p:sp>
        <p:nvSpPr>
          <p:cNvPr id="3" name="Text 1"/>
          <p:cNvSpPr/>
          <p:nvPr/>
        </p:nvSpPr>
        <p:spPr>
          <a:xfrm>
            <a:off x="457200" y="914400"/>
            <a:ext cx="8046720" cy="4114800"/>
          </a:xfrm>
          <a:prstGeom prst="rect">
            <a:avLst/>
          </a:prstGeom>
          <a:noFill/>
          <a:ln/>
        </p:spPr>
        <p:txBody>
          <a:bodyPr wrap="square" rtlCol="0" anchor="ctr"/>
          <a:lstStyle/>
          <a:p>
            <a:pPr indent="0" marL="0">
              <a:buNone/>
            </a:pPr>
            <a:r>
              <a:rPr lang="en-US" sz="1400" dirty="0">
                <a:solidFill>
                  <a:srgbClr val="363636"/>
                </a:solidFill>
              </a:rPr>
              <a:t>Notes: If you'd like a PowerPoint (.pptx) or PDF export, I can convert this markdown into slides (Pandoc or reveal.js) and produce an export file. Tell me which format you prefer and whether you want the speaker notes included in the pptx slide notes.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2025-11-17T22:36:42Z</dcterms:created>
  <dcterms:modified xsi:type="dcterms:W3CDTF">2025-11-17T22:36:42Z</dcterms:modified>
</cp:coreProperties>
</file>